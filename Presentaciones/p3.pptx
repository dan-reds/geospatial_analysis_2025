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7" r:id="rId3"/>
    <p:sldId id="258" r:id="rId4"/>
    <p:sldId id="260" r:id="rId5"/>
    <p:sldId id="259" r:id="rId6"/>
    <p:sldId id="269" r:id="rId7"/>
    <p:sldId id="270" r:id="rId8"/>
    <p:sldId id="271" r:id="rId9"/>
    <p:sldId id="273" r:id="rId10"/>
    <p:sldId id="275" r:id="rId11"/>
    <p:sldId id="272" r:id="rId12"/>
    <p:sldId id="276" r:id="rId13"/>
    <p:sldId id="277" r:id="rId14"/>
    <p:sldId id="278" r:id="rId15"/>
    <p:sldId id="279" r:id="rId16"/>
    <p:sldId id="280" r:id="rId17"/>
    <p:sldId id="282" r:id="rId18"/>
    <p:sldId id="281" r:id="rId19"/>
    <p:sldId id="283" r:id="rId20"/>
    <p:sldId id="285" r:id="rId21"/>
    <p:sldId id="284" r:id="rId22"/>
    <p:sldId id="286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93D81CF-94F2-401A-BA57-92F5A7B2D0C5}" styleName="Estilo medio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D20515-1B44-05AD-00DF-6CA4255CF3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9B98C61-CF76-411F-CFE0-5B5B2723DF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4E513A9-53B2-B98C-1E49-C9180C870E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5C1CF-0291-4A99-8996-2C79A02BBBFC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D8333DF-B58F-2930-74B7-9B2B7F4AA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35E6A82-9BE1-C2F5-A475-89B6059B6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BE38A-2556-43DC-AB7E-315403085C6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0135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FEB2587-5913-DA1F-CC65-3DB489A42D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D7ABF2A-D9A0-1325-25FF-0AB0A8957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5C1CF-0291-4A99-8996-2C79A02BBBFC}" type="datetimeFigureOut">
              <a:rPr lang="en-US" smtClean="0"/>
              <a:t>6/24/2025</a:t>
            </a:fld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3B0B2EC-C501-F158-0375-F2FF3D8D1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C4BCD08-DC67-03B6-45C1-11FAA1E2E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BE38A-2556-43DC-AB7E-315403085C6A}" type="slidenum">
              <a:rPr lang="en-US" smtClean="0"/>
              <a:t>‹Nº›</a:t>
            </a:fld>
            <a:endParaRPr lang="en-US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C3786422-13E7-16B3-1766-068E464ED460}"/>
              </a:ext>
            </a:extLst>
          </p:cNvPr>
          <p:cNvSpPr/>
          <p:nvPr userDrawn="1"/>
        </p:nvSpPr>
        <p:spPr>
          <a:xfrm>
            <a:off x="0" y="245513"/>
            <a:ext cx="12192000" cy="80857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A67B13F5-E285-A6FE-DF59-26EECFFC1C6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399" y="6176963"/>
            <a:ext cx="1343891" cy="577638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D1230485-3901-7B29-E879-3BA130A1DF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927" y="270550"/>
            <a:ext cx="12192000" cy="758503"/>
          </a:xfrm>
          <a:noFill/>
        </p:spPr>
        <p:txBody>
          <a:bodyPr>
            <a:normAutofit/>
          </a:bodyPr>
          <a:lstStyle>
            <a:lvl1pPr>
              <a:defRPr sz="40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s-MX" dirty="0"/>
              <a:t>Haz clic para modificar el estilo de título del patrón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56478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AABC0C-D997-490D-2A1C-3D416F935D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242F3CB-BC68-8908-9FA4-527DE705FA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9BCCE90-0230-2EDE-4E1A-EDBB7BAF79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5C1CF-0291-4A99-8996-2C79A02BBBFC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F2D2CCD-939B-D8A7-19AF-820DD455F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D621A1C-E560-5EDF-2E01-32501E9E3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BE38A-2556-43DC-AB7E-315403085C6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0311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880000-2B83-5202-A219-D2E9446BA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54F1C74-CDB9-972B-A983-1614066FB0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60DE73D-38D1-9CA7-7683-48FA90E7F7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C2FE80F-372F-FD23-C5FB-0A978C408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5C1CF-0291-4A99-8996-2C79A02BBBFC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9D4F93E-6CF1-764F-C525-584D6849C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89EFF42-410E-E76D-93F0-114F0027D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BE38A-2556-43DC-AB7E-315403085C6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9796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389915-8543-B7D9-8EB7-AB12DC5DC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AB04AA2-F588-21F3-F9D9-7F298072C6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D813E8A-7744-362F-7704-CFC4C136FF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AB10E414-C7CA-5958-2F1B-E36194D565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FE9BBF84-CA14-D9DC-A80A-1B42E6B2AF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CC0CCF9C-EC70-382B-8A89-D2DA0B135A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5C1CF-0291-4A99-8996-2C79A02BBBFC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D6EA535-CB70-E89F-4506-5000F5779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A0F87F1-0174-D234-7C6D-8B7BA9583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BE38A-2556-43DC-AB7E-315403085C6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3403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89DB84-8672-68A2-00BF-DF5C04A0D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AA61651-BA1A-1D52-C77F-39ECDCFCB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5C1CF-0291-4A99-8996-2C79A02BBBFC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8DD2C1E-533C-7D9D-D3D4-F0FFDAAE5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C518F45-7565-D06C-5B1F-355B282BA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BE38A-2556-43DC-AB7E-315403085C6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1942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EE07E19-2975-7B5E-95A3-D9D5E0759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5C1CF-0291-4A99-8996-2C79A02BBBFC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A536C7C-A46A-DB2E-82B8-05368667F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3056124-917E-397B-C1E3-76B1403E4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BE38A-2556-43DC-AB7E-315403085C6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5288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1A1960-0910-DFB4-7D6D-91F63B71B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287BFA6-9D46-78BC-C57C-DCB9C7D45E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CBE6645-644A-9182-BCBD-55D0C55527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D86952D-A78A-EE12-72D7-AF3EE6278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5C1CF-0291-4A99-8996-2C79A02BBBFC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EFD1998-9D2F-11F9-099C-D2549E30F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6267582-0FF1-FC1E-F85A-0A8D063CD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BE38A-2556-43DC-AB7E-315403085C6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560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C368E6-585D-CECE-03C7-AC690AA162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E9B9F464-B025-D0AB-B103-CEE36B49E3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F48D64F-B11A-09D7-0EC4-371BDDB0B8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6B81EEC-6522-3B44-1FB2-A29F6CEDEF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5C1CF-0291-4A99-8996-2C79A02BBBFC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83BF2D6-D7D2-6BB3-24A7-A16BC0FC9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6F03EBA-4988-062D-EBAF-3A1CE424E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BE38A-2556-43DC-AB7E-315403085C6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781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257640-882A-7901-EF20-EE2EB48B3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FC5D477-6333-3589-FE82-8BD96E2A86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96164E6-D4FC-E479-8F76-555C155F8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5C1CF-0291-4A99-8996-2C79A02BBBFC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84A2909-CBD6-5667-7047-CE51643FB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8812795-8DB5-7A31-2AF9-CB8D86E50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BE38A-2556-43DC-AB7E-315403085C6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9718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FAFC13E-9AD5-4832-F10C-243432DD9A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68B800F-E8ED-AC0E-E2CA-8167A24572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8AE107C-D341-34A2-06B1-99D78B0B05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5C1CF-0291-4A99-8996-2C79A02BBBFC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3A95E1E-ED10-69E4-229E-9075D378F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906FDBD-3D28-9223-0212-98E9B6F3F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BE38A-2556-43DC-AB7E-315403085C6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7881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B203B31-40BD-2DEE-932C-AF7586FFB2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6988068-C6B9-BE3F-9576-9A64B5176A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F61A516-6FB7-37B5-F3EC-73D814879A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85C1CF-0291-4A99-8996-2C79A02BBBFC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C6BA6AA-A9E3-8B54-9B64-8AEC8BE060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CC6C207-9099-B390-FE8D-2007A403A2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CBE38A-2556-43DC-AB7E-315403085C6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5169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flickr.com/photos/aztlek/9658381436/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ickr.com/photos/92252798@N07/9439107370/" TargetMode="External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ángulo 11">
            <a:extLst>
              <a:ext uri="{FF2B5EF4-FFF2-40B4-BE49-F238E27FC236}">
                <a16:creationId xmlns:a16="http://schemas.microsoft.com/office/drawing/2014/main" id="{B0C0E129-6297-7316-7A28-DD88A3A5163C}"/>
              </a:ext>
            </a:extLst>
          </p:cNvPr>
          <p:cNvSpPr/>
          <p:nvPr/>
        </p:nvSpPr>
        <p:spPr>
          <a:xfrm>
            <a:off x="0" y="1290386"/>
            <a:ext cx="12192000" cy="259321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9FF404B6-5284-E66E-3E89-5F260AD9E384}"/>
              </a:ext>
            </a:extLst>
          </p:cNvPr>
          <p:cNvSpPr txBox="1">
            <a:spLocks/>
          </p:cNvSpPr>
          <p:nvPr/>
        </p:nvSpPr>
        <p:spPr>
          <a:xfrm>
            <a:off x="1789238" y="1290386"/>
            <a:ext cx="8613524" cy="240463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4000" dirty="0">
                <a:solidFill>
                  <a:schemeClr val="bg2"/>
                </a:solidFill>
                <a:latin typeface="Ancizar Serif"/>
                <a:cs typeface="Ancizar Serif"/>
              </a:rPr>
              <a:t>Modelamiento de patrones de distribución del género </a:t>
            </a:r>
            <a:r>
              <a:rPr lang="es-MX" sz="4000" i="1" dirty="0" err="1">
                <a:solidFill>
                  <a:schemeClr val="bg2"/>
                </a:solidFill>
                <a:latin typeface="Ancizar Serif"/>
                <a:cs typeface="Ancizar Serif"/>
              </a:rPr>
              <a:t>Espeletia</a:t>
            </a:r>
            <a:r>
              <a:rPr lang="es-MX" sz="4000" dirty="0">
                <a:solidFill>
                  <a:schemeClr val="bg2"/>
                </a:solidFill>
                <a:latin typeface="Ancizar Serif"/>
                <a:cs typeface="Ancizar Serif"/>
              </a:rPr>
              <a:t> en el norte de los Andes</a:t>
            </a:r>
            <a:endParaRPr lang="es-ES" sz="4000" dirty="0">
              <a:solidFill>
                <a:schemeClr val="bg2"/>
              </a:solidFill>
              <a:latin typeface="Ancizar Serif"/>
              <a:cs typeface="Ancizar Serif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EC75AFB-E83B-42D8-DFE8-3C107644E218}"/>
              </a:ext>
            </a:extLst>
          </p:cNvPr>
          <p:cNvSpPr txBox="1"/>
          <p:nvPr/>
        </p:nvSpPr>
        <p:spPr>
          <a:xfrm>
            <a:off x="4117055" y="4318984"/>
            <a:ext cx="35464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ncizar Sans"/>
                <a:cs typeface="Ancizar Sans"/>
              </a:rPr>
              <a:t>Daniel A. Rojas</a:t>
            </a: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03F32923-8715-55BD-910D-F7329F485867}"/>
              </a:ext>
            </a:extLst>
          </p:cNvPr>
          <p:cNvSpPr txBox="1">
            <a:spLocks/>
          </p:cNvSpPr>
          <p:nvPr/>
        </p:nvSpPr>
        <p:spPr>
          <a:xfrm>
            <a:off x="2605082" y="5014013"/>
            <a:ext cx="6550986" cy="101764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Ancizar Serif"/>
                <a:cs typeface="Ancizar Serif"/>
              </a:rPr>
              <a:t>Curso: Análisis Geoespacial</a:t>
            </a:r>
          </a:p>
          <a:p>
            <a:r>
              <a:rPr lang="es-E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Ancizar Serif"/>
                <a:cs typeface="Ancizar Serif"/>
              </a:rPr>
              <a:t>Universidad Nacional de Colombia – sede Medellín</a:t>
            </a:r>
          </a:p>
        </p:txBody>
      </p:sp>
    </p:spTree>
    <p:extLst>
      <p:ext uri="{BB962C8B-B14F-4D97-AF65-F5344CB8AC3E}">
        <p14:creationId xmlns:p14="http://schemas.microsoft.com/office/powerpoint/2010/main" val="30512107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/>
          <p:cNvSpPr txBox="1">
            <a:spLocks/>
          </p:cNvSpPr>
          <p:nvPr/>
        </p:nvSpPr>
        <p:spPr>
          <a:xfrm>
            <a:off x="478303" y="1210574"/>
            <a:ext cx="10502887" cy="453309"/>
          </a:xfrm>
          <a:prstGeom prst="rect">
            <a:avLst/>
          </a:prstGeom>
        </p:spPr>
        <p:txBody>
          <a:bodyPr vert="horz" lIns="121920" tIns="60960" rIns="121920" bIns="6096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2400" spc="400" dirty="0">
                <a:solidFill>
                  <a:schemeClr val="tx1">
                    <a:lumMod val="75000"/>
                    <a:lumOff val="25000"/>
                  </a:schemeClr>
                </a:solidFill>
                <a:latin typeface="Ancizar Sans" panose="020B0602040300000003" pitchFamily="34" charset="0"/>
                <a:cs typeface="Ancizar Serif"/>
              </a:rPr>
              <a:t>Espeletia Mutis ex Humb. &amp; Bonpl.</a:t>
            </a:r>
            <a:endParaRPr lang="es-ES" sz="2400" spc="400" dirty="0">
              <a:solidFill>
                <a:schemeClr val="tx1">
                  <a:lumMod val="75000"/>
                  <a:lumOff val="25000"/>
                </a:schemeClr>
              </a:solidFill>
              <a:latin typeface="Ancizar Sans" panose="020B0602040300000003" pitchFamily="34" charset="0"/>
              <a:cs typeface="Ancizar Serif"/>
            </a:endParaRPr>
          </a:p>
        </p:txBody>
      </p:sp>
      <p:sp>
        <p:nvSpPr>
          <p:cNvPr id="8" name="Marcador de número de diapositiva 7">
            <a:extLst>
              <a:ext uri="{FF2B5EF4-FFF2-40B4-BE49-F238E27FC236}">
                <a16:creationId xmlns:a16="http://schemas.microsoft.com/office/drawing/2014/main" id="{D855C34E-49A4-E9E8-72CE-F1DF8217C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C2BA4-81C0-F544-BD72-C8CB9DA7C802}" type="slidenum">
              <a:rPr lang="es-ES" smtClean="0"/>
              <a:pPr/>
              <a:t>2</a:t>
            </a:fld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EA6DE26F-F424-4949-BC97-31BCDD34EC8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615" t="5171" r="26308" b="11554"/>
          <a:stretch/>
        </p:blipFill>
        <p:spPr>
          <a:xfrm>
            <a:off x="6433623" y="1777758"/>
            <a:ext cx="5139397" cy="3824589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811C7786-1AF2-663E-4708-38660558F092}"/>
              </a:ext>
            </a:extLst>
          </p:cNvPr>
          <p:cNvSpPr txBox="1"/>
          <p:nvPr/>
        </p:nvSpPr>
        <p:spPr>
          <a:xfrm>
            <a:off x="6433623" y="5710019"/>
            <a:ext cx="5139397" cy="64633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s-MX" sz="1200" dirty="0" err="1"/>
              <a:t>Espeletia</a:t>
            </a:r>
            <a:r>
              <a:rPr lang="es-MX" sz="1200" dirty="0"/>
              <a:t> </a:t>
            </a:r>
            <a:r>
              <a:rPr lang="es-MX" sz="1200" dirty="0" err="1"/>
              <a:t>hartwegiana</a:t>
            </a:r>
            <a:r>
              <a:rPr lang="es-MX" sz="1200" dirty="0"/>
              <a:t> </a:t>
            </a:r>
            <a:r>
              <a:rPr lang="es-MX" sz="1200" dirty="0" err="1"/>
              <a:t>Cuatrec</a:t>
            </a:r>
            <a:r>
              <a:rPr lang="es-MX" sz="1200" dirty="0"/>
              <a:t>. ex Herzog. Observado en por </a:t>
            </a:r>
            <a:r>
              <a:rPr lang="es-MX" sz="1200" dirty="0" err="1"/>
              <a:t>korenbosworth</a:t>
            </a:r>
            <a:r>
              <a:rPr lang="es-MX" sz="1200" dirty="0"/>
              <a:t> (bajo una licencia http://creativecommons.org/licenses/by-nc/4.0/)</a:t>
            </a:r>
            <a:endParaRPr lang="en-US" sz="1200" dirty="0"/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94D0E902-D1AA-BB8D-C8E0-228CF18EE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927" y="270550"/>
            <a:ext cx="12192000" cy="758503"/>
          </a:xfrm>
        </p:spPr>
        <p:txBody>
          <a:bodyPr/>
          <a:lstStyle/>
          <a:p>
            <a:r>
              <a:rPr lang="es-CO" dirty="0"/>
              <a:t>Introducción</a:t>
            </a:r>
            <a:endParaRPr lang="en-US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BB5BE3CA-C872-14DF-FD65-3A21AECD34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824373" y="3038743"/>
            <a:ext cx="4752975" cy="3152775"/>
          </a:xfrm>
          <a:prstGeom prst="rect">
            <a:avLst/>
          </a:prstGeom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9C68A0F9-F0F7-EBA5-A77F-588865EA6949}"/>
              </a:ext>
            </a:extLst>
          </p:cNvPr>
          <p:cNvSpPr txBox="1"/>
          <p:nvPr/>
        </p:nvSpPr>
        <p:spPr>
          <a:xfrm>
            <a:off x="478303" y="1846041"/>
            <a:ext cx="571254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000" dirty="0">
                <a:solidFill>
                  <a:schemeClr val="tx1">
                    <a:lumMod val="90000"/>
                    <a:lumOff val="10000"/>
                  </a:schemeClr>
                </a:solidFill>
              </a:rPr>
              <a:t>Objetivo</a:t>
            </a:r>
          </a:p>
          <a:p>
            <a:r>
              <a:rPr lang="en-US" sz="2000" dirty="0" err="1">
                <a:solidFill>
                  <a:schemeClr val="tx1">
                    <a:lumMod val="90000"/>
                    <a:lumOff val="10000"/>
                  </a:schemeClr>
                </a:solidFill>
              </a:rPr>
              <a:t>Entender</a:t>
            </a:r>
            <a:r>
              <a:rPr lang="en-US" sz="2000" dirty="0">
                <a:solidFill>
                  <a:schemeClr val="tx1">
                    <a:lumMod val="90000"/>
                    <a:lumOff val="1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90000"/>
                    <a:lumOff val="10000"/>
                  </a:schemeClr>
                </a:solidFill>
              </a:rPr>
              <a:t>qué</a:t>
            </a:r>
            <a:r>
              <a:rPr lang="en-US" sz="2000" dirty="0">
                <a:solidFill>
                  <a:schemeClr val="tx1">
                    <a:lumMod val="90000"/>
                    <a:lumOff val="1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90000"/>
                    <a:lumOff val="10000"/>
                  </a:schemeClr>
                </a:solidFill>
              </a:rPr>
              <a:t>condiciones</a:t>
            </a:r>
            <a:r>
              <a:rPr lang="en-US" sz="2000" dirty="0">
                <a:solidFill>
                  <a:schemeClr val="tx1">
                    <a:lumMod val="90000"/>
                    <a:lumOff val="1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90000"/>
                    <a:lumOff val="10000"/>
                  </a:schemeClr>
                </a:solidFill>
              </a:rPr>
              <a:t>ambientales</a:t>
            </a:r>
            <a:r>
              <a:rPr lang="en-US" sz="2000" dirty="0">
                <a:solidFill>
                  <a:schemeClr val="tx1">
                    <a:lumMod val="90000"/>
                    <a:lumOff val="1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90000"/>
                    <a:lumOff val="10000"/>
                  </a:schemeClr>
                </a:solidFill>
              </a:rPr>
              <a:t>pueden</a:t>
            </a:r>
            <a:r>
              <a:rPr lang="en-US" sz="2000" dirty="0">
                <a:solidFill>
                  <a:schemeClr val="tx1">
                    <a:lumMod val="90000"/>
                    <a:lumOff val="1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90000"/>
                    <a:lumOff val="10000"/>
                  </a:schemeClr>
                </a:solidFill>
              </a:rPr>
              <a:t>explicar</a:t>
            </a:r>
            <a:r>
              <a:rPr lang="en-US" sz="2000" dirty="0">
                <a:solidFill>
                  <a:schemeClr val="tx1">
                    <a:lumMod val="90000"/>
                    <a:lumOff val="10000"/>
                  </a:schemeClr>
                </a:solidFill>
              </a:rPr>
              <a:t> la </a:t>
            </a:r>
            <a:r>
              <a:rPr lang="en-US" sz="2000" dirty="0" err="1">
                <a:solidFill>
                  <a:schemeClr val="tx1">
                    <a:lumMod val="90000"/>
                    <a:lumOff val="10000"/>
                  </a:schemeClr>
                </a:solidFill>
              </a:rPr>
              <a:t>distribución</a:t>
            </a:r>
            <a:r>
              <a:rPr lang="en-US" sz="2000" dirty="0">
                <a:solidFill>
                  <a:schemeClr val="tx1">
                    <a:lumMod val="90000"/>
                    <a:lumOff val="10000"/>
                  </a:schemeClr>
                </a:solidFill>
              </a:rPr>
              <a:t> de </a:t>
            </a:r>
            <a:r>
              <a:rPr lang="en-US" sz="2000" dirty="0" err="1">
                <a:solidFill>
                  <a:schemeClr val="tx1">
                    <a:lumMod val="90000"/>
                    <a:lumOff val="10000"/>
                  </a:schemeClr>
                </a:solidFill>
              </a:rPr>
              <a:t>los</a:t>
            </a:r>
            <a:r>
              <a:rPr lang="en-US" sz="2000" dirty="0">
                <a:solidFill>
                  <a:schemeClr val="tx1">
                    <a:lumMod val="90000"/>
                    <a:lumOff val="1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90000"/>
                    <a:lumOff val="10000"/>
                  </a:schemeClr>
                </a:solidFill>
              </a:rPr>
              <a:t>frailejones</a:t>
            </a:r>
            <a:endParaRPr lang="en-US" sz="2000" dirty="0">
              <a:solidFill>
                <a:schemeClr val="tx1">
                  <a:lumMod val="90000"/>
                  <a:lumOff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41976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AF5C8C43-4168-A9CF-5FD8-C1D26A6CA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Patrón</a:t>
            </a:r>
            <a:r>
              <a:rPr lang="en-US" dirty="0"/>
              <a:t> de puntos - </a:t>
            </a:r>
            <a:r>
              <a:rPr lang="en-US" dirty="0" err="1"/>
              <a:t>Visualización</a:t>
            </a:r>
            <a:endParaRPr lang="en-US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4B75457-897D-1E5F-0488-B871DC5140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8811" y="1159812"/>
            <a:ext cx="4549564" cy="5465322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CB0A74F1-DCEC-6956-39E7-57900E0B2E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668" y="2011787"/>
            <a:ext cx="5828071" cy="4110260"/>
          </a:xfrm>
          <a:prstGeom prst="rect">
            <a:avLst/>
          </a:prstGeom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8F63797D-6473-F0E8-33D4-57D96E722DA9}"/>
              </a:ext>
            </a:extLst>
          </p:cNvPr>
          <p:cNvSpPr txBox="1">
            <a:spLocks/>
          </p:cNvSpPr>
          <p:nvPr/>
        </p:nvSpPr>
        <p:spPr>
          <a:xfrm>
            <a:off x="838199" y="1335754"/>
            <a:ext cx="6280355" cy="3693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CO" sz="2000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ncizar Serif"/>
              </a:rPr>
              <a:t>Puntos de ocurrencias </a:t>
            </a:r>
            <a:r>
              <a:rPr lang="es-CO" sz="2000" i="1" spc="3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ncizar Serif"/>
              </a:rPr>
              <a:t>Espeletia</a:t>
            </a:r>
            <a:r>
              <a:rPr lang="es-CO" sz="2000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ncizar Serif"/>
              </a:rPr>
              <a:t> - GBIF</a:t>
            </a:r>
            <a:endParaRPr lang="es-ES" sz="2000" spc="3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  <a:cs typeface="Ancizar Serif"/>
            </a:endParaRPr>
          </a:p>
        </p:txBody>
      </p:sp>
    </p:spTree>
    <p:extLst>
      <p:ext uri="{BB962C8B-B14F-4D97-AF65-F5344CB8AC3E}">
        <p14:creationId xmlns:p14="http://schemas.microsoft.com/office/powerpoint/2010/main" val="27589993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29E4B01C-3B1D-1C15-624E-B2A422E67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Agrupamiento de las observaciones</a:t>
            </a:r>
            <a:endParaRPr lang="en-U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780EA51-4A99-5F97-3247-EE1BB03A16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627" y="1241630"/>
            <a:ext cx="8467725" cy="276225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D4C84659-F917-72B4-7817-EF06FB5377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626" y="4003880"/>
            <a:ext cx="8467725" cy="2762250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247A5A86-EF15-F7BD-25AB-9376EDF13DE2}"/>
              </a:ext>
            </a:extLst>
          </p:cNvPr>
          <p:cNvSpPr txBox="1"/>
          <p:nvPr/>
        </p:nvSpPr>
        <p:spPr>
          <a:xfrm>
            <a:off x="9134168" y="2222090"/>
            <a:ext cx="276286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000" dirty="0"/>
              <a:t>No aleatorio</a:t>
            </a:r>
          </a:p>
          <a:p>
            <a:endParaRPr lang="es-CO" sz="2000" dirty="0"/>
          </a:p>
          <a:p>
            <a:r>
              <a:rPr lang="es-CO" sz="2000" dirty="0"/>
              <a:t>Estructura en parches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8671129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EFAADE42-E397-ACA2-A0B6-B02F2D203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Base de Datos - </a:t>
            </a:r>
            <a:r>
              <a:rPr lang="en-US" dirty="0" err="1"/>
              <a:t>Compilación</a:t>
            </a:r>
            <a:endParaRPr lang="en-US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90C49B3-A952-DBA2-83E4-8DE206DF01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926" y="2649697"/>
            <a:ext cx="6563479" cy="3375504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0851F5C2-8132-1058-0ADC-57F293B70B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1209" y="1099112"/>
            <a:ext cx="4684314" cy="5488338"/>
          </a:xfrm>
          <a:prstGeom prst="rect">
            <a:avLst/>
          </a:prstGeom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14E8BC0F-49A4-FF1E-B141-D4D065A07693}"/>
              </a:ext>
            </a:extLst>
          </p:cNvPr>
          <p:cNvSpPr txBox="1">
            <a:spLocks/>
          </p:cNvSpPr>
          <p:nvPr/>
        </p:nvSpPr>
        <p:spPr>
          <a:xfrm>
            <a:off x="387926" y="1558251"/>
            <a:ext cx="6913283" cy="562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CO" sz="2000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ncizar Serif"/>
              </a:rPr>
              <a:t>Superposición con variables</a:t>
            </a:r>
          </a:p>
          <a:p>
            <a:pPr algn="l"/>
            <a:r>
              <a:rPr lang="es-CO" sz="2000" spc="3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ncizar Serif"/>
              </a:rPr>
              <a:t>Bioclimaticas</a:t>
            </a:r>
            <a:r>
              <a:rPr lang="es-CO" sz="2000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ncizar Serif"/>
              </a:rPr>
              <a:t> – </a:t>
            </a:r>
            <a:r>
              <a:rPr lang="es-CO" sz="2000" spc="3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ncizar Serif"/>
              </a:rPr>
              <a:t>WorldClim</a:t>
            </a:r>
            <a:r>
              <a:rPr lang="es-CO" sz="2000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ncizar Serif"/>
              </a:rPr>
              <a:t> (</a:t>
            </a:r>
            <a:r>
              <a:rPr lang="es-CO" sz="2000" spc="3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ncizar Serif"/>
              </a:rPr>
              <a:t>Prom</a:t>
            </a:r>
            <a:r>
              <a:rPr lang="es-CO" sz="2000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ncizar Serif"/>
              </a:rPr>
              <a:t> 1970 – 2000)</a:t>
            </a:r>
            <a:endParaRPr lang="es-ES" sz="2000" spc="3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  <a:cs typeface="Ancizar Serif"/>
            </a:endParaRPr>
          </a:p>
        </p:txBody>
      </p:sp>
    </p:spTree>
    <p:extLst>
      <p:ext uri="{BB962C8B-B14F-4D97-AF65-F5344CB8AC3E}">
        <p14:creationId xmlns:p14="http://schemas.microsoft.com/office/powerpoint/2010/main" val="15896788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7154C398-FE6A-3950-A302-2EF5765D0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Elección</a:t>
            </a:r>
            <a:r>
              <a:rPr lang="en-US" dirty="0"/>
              <a:t> de las Variables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E20D481-505F-6870-B700-D654BAEAB0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016" y="1455615"/>
            <a:ext cx="5417513" cy="2096306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97AE0BA0-D8BB-1572-67E1-59E51DB9D9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016" y="3728314"/>
            <a:ext cx="5147634" cy="2554336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F5853D00-E05A-1668-31CC-2CCBFC636D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1979" y="1455615"/>
            <a:ext cx="5921695" cy="5131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0539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E8F44221-2EA8-4AB5-10FC-C4BC81DE5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Variable respuesta</a:t>
            </a:r>
            <a:endParaRPr lang="en-US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57250944-8C5F-E68C-C276-5225B68DF0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5921" y="2425802"/>
            <a:ext cx="3409950" cy="4248150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50EA28FD-6796-BA25-C22C-F0C25B8858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108" y="3824748"/>
            <a:ext cx="3480380" cy="1027541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216318BA-4479-A658-6B86-66E5CAFC272C}"/>
              </a:ext>
            </a:extLst>
          </p:cNvPr>
          <p:cNvSpPr txBox="1"/>
          <p:nvPr/>
        </p:nvSpPr>
        <p:spPr>
          <a:xfrm>
            <a:off x="387927" y="1504336"/>
            <a:ext cx="57080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400" i="1" dirty="0"/>
              <a:t>Zonificación hidrográfica IDEAM 2022</a:t>
            </a:r>
            <a:endParaRPr lang="en-US" sz="2400" i="1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2DEC8CFC-1A61-B82D-7F8E-4422888F39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7988" y="1163327"/>
            <a:ext cx="3794476" cy="5322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39536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964CD631-67F9-6F45-15D4-0A02D69AD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Dependencia espacial – Índice Moran</a:t>
            </a:r>
            <a:endParaRPr lang="en-U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0C63617-A5B1-801E-C5E3-6BA0B9F77A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7661" y="1888641"/>
            <a:ext cx="8671281" cy="4128701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6C824A37-56BF-30D3-99A9-D30904F3F61F}"/>
              </a:ext>
            </a:extLst>
          </p:cNvPr>
          <p:cNvSpPr txBox="1"/>
          <p:nvPr/>
        </p:nvSpPr>
        <p:spPr>
          <a:xfrm>
            <a:off x="387927" y="1228014"/>
            <a:ext cx="54077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400" i="1" dirty="0"/>
              <a:t>Numero de especies por polígono</a:t>
            </a:r>
            <a:endParaRPr lang="en-US" sz="2400" i="1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051B2109-686A-8938-8172-C06249393590}"/>
              </a:ext>
            </a:extLst>
          </p:cNvPr>
          <p:cNvSpPr txBox="1"/>
          <p:nvPr/>
        </p:nvSpPr>
        <p:spPr>
          <a:xfrm>
            <a:off x="117987" y="4306529"/>
            <a:ext cx="25170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000" i="1" dirty="0"/>
              <a:t>Numero de especies por cuenca</a:t>
            </a:r>
            <a:endParaRPr lang="en-US" sz="2000" i="1" dirty="0"/>
          </a:p>
        </p:txBody>
      </p:sp>
    </p:spTree>
    <p:extLst>
      <p:ext uri="{BB962C8B-B14F-4D97-AF65-F5344CB8AC3E}">
        <p14:creationId xmlns:p14="http://schemas.microsoft.com/office/powerpoint/2010/main" val="21146311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0D49F5-FF54-388A-F037-58155C633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F8F4140B-8C7E-7F80-E0A8-98E2ADF92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Dependencia espacial – Índice Moran</a:t>
            </a:r>
            <a:endParaRPr lang="en-US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927E1D4-1AB3-6217-94B7-9E871E403C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3774" y="1868128"/>
            <a:ext cx="8690805" cy="4137997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F14B0CA6-D7AD-A95C-7906-EF4C3DC519FB}"/>
              </a:ext>
            </a:extLst>
          </p:cNvPr>
          <p:cNvSpPr txBox="1"/>
          <p:nvPr/>
        </p:nvSpPr>
        <p:spPr>
          <a:xfrm>
            <a:off x="387927" y="1228014"/>
            <a:ext cx="54077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400" i="1" dirty="0"/>
              <a:t>Densidad de especies por polígono</a:t>
            </a:r>
            <a:endParaRPr lang="en-US" sz="2400" i="1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9F2F2FC7-9443-721D-A7A9-7F74D60860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437" y="4532671"/>
            <a:ext cx="2512589" cy="741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60694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AA7DBA-24AD-A9E3-3EBD-61EFBFF45C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A37643A6-DC57-BE00-9364-CEB1C1EE0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Dependencia espacial – Índice Moran</a:t>
            </a:r>
            <a:endParaRPr lang="en-US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AC8D9EC-CF75-763A-390E-897BB0DB091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4516"/>
          <a:stretch>
            <a:fillRect/>
          </a:stretch>
        </p:blipFill>
        <p:spPr>
          <a:xfrm>
            <a:off x="618463" y="1514167"/>
            <a:ext cx="10737795" cy="4863397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B0540D65-D61B-A620-7087-A85EA328CFB7}"/>
              </a:ext>
            </a:extLst>
          </p:cNvPr>
          <p:cNvSpPr txBox="1"/>
          <p:nvPr/>
        </p:nvSpPr>
        <p:spPr>
          <a:xfrm>
            <a:off x="4217553" y="2172929"/>
            <a:ext cx="17698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000" b="1" dirty="0"/>
              <a:t>Índice = 0.08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4978004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9EDEAAEA-4C64-DC34-9202-D78FCE1D8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err="1"/>
              <a:t>Clustering</a:t>
            </a:r>
            <a:r>
              <a:rPr lang="es-CO" dirty="0"/>
              <a:t> k-</a:t>
            </a:r>
            <a:r>
              <a:rPr lang="es-CO" dirty="0" err="1"/>
              <a:t>means</a:t>
            </a:r>
            <a:endParaRPr lang="en-U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FA3C504-F1C6-4DF2-3640-2F01CAD4C1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1302" y="1269537"/>
            <a:ext cx="4242720" cy="5490139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26E9F83D-AB93-833B-17DA-2886526487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3951" y="1679233"/>
            <a:ext cx="3859261" cy="4807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11614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2450D3F8-46A6-F45D-8A91-480656836F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Modelos - Variable respuesta</a:t>
            </a:r>
            <a:endParaRPr lang="en-U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E5F68F9-6583-F950-7340-D5A8618462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7536" y="1920768"/>
            <a:ext cx="7517068" cy="4479869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EBC4995A-3F1B-990F-BA5C-D0EFC54B02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927" y="1822445"/>
            <a:ext cx="3480380" cy="1027541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94783EF4-255D-85F0-38CF-40650D7787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945" y="3084871"/>
            <a:ext cx="2604692" cy="3244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46230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7A8A28-D06A-8CEC-E1E8-64C8ACDFB2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C48FC85E-B6EB-82AE-C1BB-3EA67E6A37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Modelos - Variable respuesta</a:t>
            </a:r>
            <a:endParaRPr lang="en-US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7F0CC8EF-1BF9-1079-691C-40503B189F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927" y="2008238"/>
            <a:ext cx="3480380" cy="1027541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D12366C2-3C5A-9321-F0FD-8D2F8597CF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945" y="3084871"/>
            <a:ext cx="2604692" cy="3244952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D690E4CB-9C0C-009F-1FD3-BD93563FB4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0907" y="2008238"/>
            <a:ext cx="7244148" cy="4321585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453BE798-5795-A974-F073-CAC7EA7869F0}"/>
              </a:ext>
            </a:extLst>
          </p:cNvPr>
          <p:cNvSpPr txBox="1"/>
          <p:nvPr/>
        </p:nvSpPr>
        <p:spPr>
          <a:xfrm>
            <a:off x="387927" y="1228014"/>
            <a:ext cx="54077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400" i="1" dirty="0"/>
              <a:t>Transformación logarítmica</a:t>
            </a:r>
            <a:endParaRPr lang="en-US" sz="2400" i="1" dirty="0"/>
          </a:p>
        </p:txBody>
      </p:sp>
    </p:spTree>
    <p:extLst>
      <p:ext uri="{BB962C8B-B14F-4D97-AF65-F5344CB8AC3E}">
        <p14:creationId xmlns:p14="http://schemas.microsoft.com/office/powerpoint/2010/main" val="36968500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8C563F17-E0F2-D35E-5BE8-83B382CDB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1. Regresión lineal OLS</a:t>
            </a:r>
            <a:endParaRPr lang="en-US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497F91D2-A394-C2D3-9078-7E85105E8F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927" y="1828800"/>
            <a:ext cx="4657511" cy="1261837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A93C7B10-42B9-AF9C-39D3-75A91BACCE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3432" y="1582994"/>
            <a:ext cx="6441751" cy="4652776"/>
          </a:xfrm>
          <a:prstGeom prst="rect">
            <a:avLst/>
          </a:prstGeom>
        </p:spPr>
      </p:pic>
      <p:sp>
        <p:nvSpPr>
          <p:cNvPr id="15" name="CuadroTexto 14">
            <a:extLst>
              <a:ext uri="{FF2B5EF4-FFF2-40B4-BE49-F238E27FC236}">
                <a16:creationId xmlns:a16="http://schemas.microsoft.com/office/drawing/2014/main" id="{B9AE5F11-B8C9-FEAD-1DCC-3B5CF3DB94B5}"/>
              </a:ext>
            </a:extLst>
          </p:cNvPr>
          <p:cNvSpPr txBox="1"/>
          <p:nvPr/>
        </p:nvSpPr>
        <p:spPr>
          <a:xfrm>
            <a:off x="619432" y="4178710"/>
            <a:ext cx="420820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000" dirty="0"/>
              <a:t>Bio3* = </a:t>
            </a:r>
            <a:r>
              <a:rPr lang="en-US" sz="2000" dirty="0" err="1"/>
              <a:t>Isotermalidad</a:t>
            </a:r>
            <a:endParaRPr lang="es-CO" sz="2000" dirty="0"/>
          </a:p>
          <a:p>
            <a:endParaRPr lang="es-CO" sz="2000" dirty="0"/>
          </a:p>
          <a:p>
            <a:r>
              <a:rPr lang="es-CO" sz="2000" dirty="0"/>
              <a:t>Bio4* = </a:t>
            </a:r>
            <a:r>
              <a:rPr lang="en-US" sz="2000" dirty="0" err="1"/>
              <a:t>Estacionalidad</a:t>
            </a:r>
            <a:r>
              <a:rPr lang="en-US" sz="2000" dirty="0"/>
              <a:t> </a:t>
            </a:r>
            <a:r>
              <a:rPr lang="en-US" sz="2000" dirty="0" err="1"/>
              <a:t>temperatura</a:t>
            </a:r>
            <a:endParaRPr lang="en-US" sz="2000" dirty="0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0C61AB94-EA9E-38BB-29EA-FF003EEDD2AD}"/>
              </a:ext>
            </a:extLst>
          </p:cNvPr>
          <p:cNvSpPr/>
          <p:nvPr/>
        </p:nvSpPr>
        <p:spPr>
          <a:xfrm>
            <a:off x="6096000" y="4984955"/>
            <a:ext cx="5161935" cy="37362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1457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710E8390-81F2-9FC6-2C79-52BA6054B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Residuales – Modelo lineal OLS</a:t>
            </a:r>
            <a:endParaRPr lang="en-US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8105C06D-0E77-056F-6142-10273C1EC6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1935" y="1866726"/>
            <a:ext cx="6307547" cy="4366763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2C09A8AE-88EF-CA5D-714D-928511A10E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189" y="1245618"/>
            <a:ext cx="3112919" cy="4366763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911EF6EF-BE62-7335-512B-ED9F5F4A1853}"/>
              </a:ext>
            </a:extLst>
          </p:cNvPr>
          <p:cNvSpPr txBox="1"/>
          <p:nvPr/>
        </p:nvSpPr>
        <p:spPr>
          <a:xfrm>
            <a:off x="722518" y="5644280"/>
            <a:ext cx="42082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Zonificación hidrográfica IDEAM 2022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35234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1D828135-9DFA-8B4F-85B9-A299A3C0D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2. Modelo SAR exógeno</a:t>
            </a:r>
            <a:endParaRPr lang="en-US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CEDE0E9-630E-78CD-FDEA-2D55F16D5491}"/>
              </a:ext>
            </a:extLst>
          </p:cNvPr>
          <p:cNvSpPr txBox="1"/>
          <p:nvPr/>
        </p:nvSpPr>
        <p:spPr>
          <a:xfrm>
            <a:off x="594405" y="1268362"/>
            <a:ext cx="43315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400" dirty="0"/>
              <a:t>W = </a:t>
            </a:r>
            <a:r>
              <a:rPr lang="es-CO" sz="2400" dirty="0" err="1"/>
              <a:t>knn</a:t>
            </a:r>
            <a:r>
              <a:rPr lang="es-CO" sz="2400" dirty="0"/>
              <a:t>, </a:t>
            </a:r>
          </a:p>
          <a:p>
            <a:r>
              <a:rPr lang="es-CO" sz="2400" dirty="0"/>
              <a:t>con k = 7</a:t>
            </a:r>
            <a:endParaRPr lang="en-US" sz="2400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B6516254-C236-6CE6-6A7F-063A178A35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405" y="2338668"/>
            <a:ext cx="4183559" cy="2018199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F7108DA9-8164-5A09-A8C1-E2626DB0DD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8245" y="3380089"/>
            <a:ext cx="6135576" cy="329584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96C1C768-A998-A05E-B057-6FF269AFF9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8246" y="992738"/>
            <a:ext cx="6135576" cy="2413278"/>
          </a:xfrm>
          <a:prstGeom prst="rect">
            <a:avLst/>
          </a:prstGeom>
        </p:spPr>
      </p:pic>
      <p:sp>
        <p:nvSpPr>
          <p:cNvPr id="12" name="Rectángulo 11">
            <a:extLst>
              <a:ext uri="{FF2B5EF4-FFF2-40B4-BE49-F238E27FC236}">
                <a16:creationId xmlns:a16="http://schemas.microsoft.com/office/drawing/2014/main" id="{676EF200-896E-9E8C-E440-ADCA1B3CB13B}"/>
              </a:ext>
            </a:extLst>
          </p:cNvPr>
          <p:cNvSpPr/>
          <p:nvPr/>
        </p:nvSpPr>
        <p:spPr>
          <a:xfrm>
            <a:off x="5801032" y="5437239"/>
            <a:ext cx="5614220" cy="23597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13B7CDE9-1BF8-A282-7CDA-04D9CCC417CF}"/>
              </a:ext>
            </a:extLst>
          </p:cNvPr>
          <p:cNvSpPr/>
          <p:nvPr/>
        </p:nvSpPr>
        <p:spPr>
          <a:xfrm>
            <a:off x="5801032" y="3877482"/>
            <a:ext cx="5614220" cy="23597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C5C7EBE1-3191-4E50-28D7-D05F9F0E5EB1}"/>
              </a:ext>
            </a:extLst>
          </p:cNvPr>
          <p:cNvSpPr/>
          <p:nvPr/>
        </p:nvSpPr>
        <p:spPr>
          <a:xfrm>
            <a:off x="5378245" y="2016976"/>
            <a:ext cx="2477729" cy="36038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5291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C4F205F1-4EDB-DB7E-3B62-5288EEC5F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3. Modelo SAR endógeno </a:t>
            </a:r>
            <a:endParaRPr lang="en-US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D86117FF-9A8F-9296-F82E-D539A86B32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1495" y="1207499"/>
            <a:ext cx="7091927" cy="5237501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E02271F0-7ED4-C8F4-A4D7-746C326EE0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270" y="1949252"/>
            <a:ext cx="4175185" cy="1220304"/>
          </a:xfrm>
          <a:prstGeom prst="rect">
            <a:avLst/>
          </a:prstGeom>
        </p:spPr>
      </p:pic>
      <p:sp>
        <p:nvSpPr>
          <p:cNvPr id="10" name="Rectángulo 9">
            <a:extLst>
              <a:ext uri="{FF2B5EF4-FFF2-40B4-BE49-F238E27FC236}">
                <a16:creationId xmlns:a16="http://schemas.microsoft.com/office/drawing/2014/main" id="{EFCE73AB-CF28-1BAC-B751-85419A9F14CD}"/>
              </a:ext>
            </a:extLst>
          </p:cNvPr>
          <p:cNvSpPr/>
          <p:nvPr/>
        </p:nvSpPr>
        <p:spPr>
          <a:xfrm>
            <a:off x="5525729" y="4168877"/>
            <a:ext cx="5958348" cy="2359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AEC91F7B-1525-4023-A6B0-1DA10DAF346F}"/>
              </a:ext>
            </a:extLst>
          </p:cNvPr>
          <p:cNvSpPr/>
          <p:nvPr/>
        </p:nvSpPr>
        <p:spPr>
          <a:xfrm>
            <a:off x="4945626" y="5394862"/>
            <a:ext cx="6538451" cy="2359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A98530CA-A1AE-5FA1-E5CF-AE919DAB9A04}"/>
              </a:ext>
            </a:extLst>
          </p:cNvPr>
          <p:cNvSpPr txBox="1"/>
          <p:nvPr/>
        </p:nvSpPr>
        <p:spPr>
          <a:xfrm>
            <a:off x="288758" y="3327664"/>
            <a:ext cx="42082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000" dirty="0"/>
              <a:t>Bio3* = </a:t>
            </a:r>
            <a:r>
              <a:rPr lang="en-US" sz="2000" dirty="0" err="1"/>
              <a:t>Isotermalidad</a:t>
            </a:r>
            <a:endParaRPr lang="es-CO" sz="2000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601A709B-A011-C90E-2F68-08C2240DD8AA}"/>
              </a:ext>
            </a:extLst>
          </p:cNvPr>
          <p:cNvSpPr txBox="1"/>
          <p:nvPr/>
        </p:nvSpPr>
        <p:spPr>
          <a:xfrm>
            <a:off x="305270" y="1258320"/>
            <a:ext cx="34904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400" i="1" dirty="0" err="1"/>
              <a:t>Spatial</a:t>
            </a:r>
            <a:r>
              <a:rPr lang="es-CO" sz="2400" i="1" dirty="0"/>
              <a:t> </a:t>
            </a:r>
            <a:r>
              <a:rPr lang="es-CO" sz="2400" i="1" dirty="0" err="1"/>
              <a:t>lag</a:t>
            </a:r>
            <a:r>
              <a:rPr lang="es-CO" sz="2400" i="1" dirty="0"/>
              <a:t> </a:t>
            </a:r>
            <a:r>
              <a:rPr lang="es-CO" sz="2400" i="1" dirty="0" err="1"/>
              <a:t>model</a:t>
            </a:r>
            <a:endParaRPr lang="en-US" sz="2400" i="1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9FFB9788-AF89-823F-466B-B402B129FD13}"/>
              </a:ext>
            </a:extLst>
          </p:cNvPr>
          <p:cNvSpPr txBox="1"/>
          <p:nvPr/>
        </p:nvSpPr>
        <p:spPr>
          <a:xfrm>
            <a:off x="157101" y="4168877"/>
            <a:ext cx="461645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/>
              <a:t>la densidad de especies en un polígono está influenciada por la densidad de especies en los polígonos vecinos, de forma significativa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0731460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125DA0A7-745B-71C5-28F5-229B10B8F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4. Modelo con error rezagado </a:t>
            </a:r>
            <a:endParaRPr lang="en-U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06F6A5B-96F7-6879-20EA-483044F7CB0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350"/>
          <a:stretch>
            <a:fillRect/>
          </a:stretch>
        </p:blipFill>
        <p:spPr>
          <a:xfrm>
            <a:off x="250276" y="1901988"/>
            <a:ext cx="4990318" cy="1343212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49305F4C-1B47-C236-3818-A8F8501137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9874" y="1744671"/>
            <a:ext cx="6670006" cy="4508645"/>
          </a:xfrm>
          <a:prstGeom prst="rect">
            <a:avLst/>
          </a:prstGeom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D40C0B45-DD6D-6B40-8F7D-C7B94816D2AD}"/>
              </a:ext>
            </a:extLst>
          </p:cNvPr>
          <p:cNvSpPr/>
          <p:nvPr/>
        </p:nvSpPr>
        <p:spPr>
          <a:xfrm>
            <a:off x="6194323" y="4493342"/>
            <a:ext cx="5604387" cy="42278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5D2239AA-A45A-5335-B744-14E059298BEF}"/>
              </a:ext>
            </a:extLst>
          </p:cNvPr>
          <p:cNvSpPr txBox="1"/>
          <p:nvPr/>
        </p:nvSpPr>
        <p:spPr>
          <a:xfrm>
            <a:off x="387927" y="3491161"/>
            <a:ext cx="420820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000" dirty="0"/>
              <a:t>Bio3* = </a:t>
            </a:r>
            <a:r>
              <a:rPr lang="en-US" sz="2000" dirty="0" err="1"/>
              <a:t>Isotermalidad</a:t>
            </a:r>
            <a:endParaRPr lang="es-CO" sz="2000" dirty="0"/>
          </a:p>
          <a:p>
            <a:endParaRPr lang="es-CO" sz="2000" dirty="0"/>
          </a:p>
          <a:p>
            <a:r>
              <a:rPr lang="es-CO" sz="2000" dirty="0"/>
              <a:t>Bio4* = </a:t>
            </a:r>
            <a:r>
              <a:rPr lang="en-US" sz="2000" dirty="0" err="1"/>
              <a:t>Estacionalidad</a:t>
            </a:r>
            <a:r>
              <a:rPr lang="en-US" sz="2000" dirty="0"/>
              <a:t> </a:t>
            </a:r>
            <a:r>
              <a:rPr lang="en-US" sz="2000" dirty="0" err="1"/>
              <a:t>temperatura</a:t>
            </a:r>
            <a:endParaRPr lang="en-US" sz="2000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23DDF6EA-C262-56B9-5B90-5D8D6E823131}"/>
              </a:ext>
            </a:extLst>
          </p:cNvPr>
          <p:cNvSpPr txBox="1"/>
          <p:nvPr/>
        </p:nvSpPr>
        <p:spPr>
          <a:xfrm>
            <a:off x="356190" y="4704735"/>
            <a:ext cx="461645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/>
              <a:t>la densidad de especies en un polígono está influenciada por la densidad de especies en los polígonos vecinos, de forma significativa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8822289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98A61FDD-7B2F-0154-7199-DDB8AC105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dirty="0"/>
              <a:t>5. Modelos - Heterogeneidad Espacial</a:t>
            </a:r>
            <a:endParaRPr lang="en-US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C4062CAA-A3F3-B48F-6416-E6160969F3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7806" y="1112538"/>
            <a:ext cx="6893729" cy="3455052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9864961B-96BF-752D-1A17-20114F0220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7806" y="4572230"/>
            <a:ext cx="6893729" cy="2139996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FD869908-1CBD-43AC-9338-24783F2E34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2387" y="2295447"/>
            <a:ext cx="2604773" cy="3653942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C5B0505A-2DBD-7B4A-56F8-2673367D4C00}"/>
              </a:ext>
            </a:extLst>
          </p:cNvPr>
          <p:cNvSpPr txBox="1"/>
          <p:nvPr/>
        </p:nvSpPr>
        <p:spPr>
          <a:xfrm>
            <a:off x="732350" y="6106706"/>
            <a:ext cx="42082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Zonificación hidrográfica IDEAM 2022</a:t>
            </a:r>
            <a:endParaRPr lang="en-US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3D741BCE-9E5B-31EE-27DB-B6A03FCCF8D0}"/>
              </a:ext>
            </a:extLst>
          </p:cNvPr>
          <p:cNvSpPr txBox="1"/>
          <p:nvPr/>
        </p:nvSpPr>
        <p:spPr>
          <a:xfrm>
            <a:off x="279772" y="1307133"/>
            <a:ext cx="442987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400" i="1" dirty="0"/>
              <a:t>Coeficientes e intercepto variables</a:t>
            </a:r>
            <a:endParaRPr lang="en-US" sz="2400" i="1" dirty="0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F2A736A7-F1CD-2D5A-808D-CA3C9C925017}"/>
              </a:ext>
            </a:extLst>
          </p:cNvPr>
          <p:cNvSpPr/>
          <p:nvPr/>
        </p:nvSpPr>
        <p:spPr>
          <a:xfrm>
            <a:off x="4940556" y="4994788"/>
            <a:ext cx="1745379" cy="168794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7187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D0C6159A-B881-2821-959C-E8137CA7F7D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78694383"/>
              </p:ext>
            </p:extLst>
          </p:nvPr>
        </p:nvGraphicFramePr>
        <p:xfrm>
          <a:off x="2340078" y="1210458"/>
          <a:ext cx="8139624" cy="5148240"/>
        </p:xfrm>
        <a:graphic>
          <a:graphicData uri="http://schemas.openxmlformats.org/drawingml/2006/table">
            <a:tbl>
              <a:tblPr>
                <a:tableStyleId>{793D81CF-94F2-401A-BA57-92F5A7B2D0C5}</a:tableStyleId>
              </a:tblPr>
              <a:tblGrid>
                <a:gridCol w="2366745">
                  <a:extLst>
                    <a:ext uri="{9D8B030D-6E8A-4147-A177-3AD203B41FA5}">
                      <a16:colId xmlns:a16="http://schemas.microsoft.com/office/drawing/2014/main" val="834782940"/>
                    </a:ext>
                  </a:extLst>
                </a:gridCol>
                <a:gridCol w="1536661">
                  <a:extLst>
                    <a:ext uri="{9D8B030D-6E8A-4147-A177-3AD203B41FA5}">
                      <a16:colId xmlns:a16="http://schemas.microsoft.com/office/drawing/2014/main" val="2822643770"/>
                    </a:ext>
                  </a:extLst>
                </a:gridCol>
                <a:gridCol w="2172929">
                  <a:extLst>
                    <a:ext uri="{9D8B030D-6E8A-4147-A177-3AD203B41FA5}">
                      <a16:colId xmlns:a16="http://schemas.microsoft.com/office/drawing/2014/main" val="1001828043"/>
                    </a:ext>
                  </a:extLst>
                </a:gridCol>
                <a:gridCol w="2063289">
                  <a:extLst>
                    <a:ext uri="{9D8B030D-6E8A-4147-A177-3AD203B41FA5}">
                      <a16:colId xmlns:a16="http://schemas.microsoft.com/office/drawing/2014/main" val="460678382"/>
                    </a:ext>
                  </a:extLst>
                </a:gridCol>
              </a:tblGrid>
              <a:tr h="884851">
                <a:tc>
                  <a:txBody>
                    <a:bodyPr/>
                    <a:lstStyle/>
                    <a:p>
                      <a:pPr algn="ctr"/>
                      <a:r>
                        <a:rPr lang="en-US" sz="1600" b="1"/>
                        <a:t>Modelo</a:t>
                      </a:r>
                      <a:endParaRPr lang="en-US" sz="1600"/>
                    </a:p>
                  </a:txBody>
                  <a:tcPr marL="65929" marR="65929" marT="32965" marB="32965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R² / Pseudo R²</a:t>
                      </a:r>
                      <a:endParaRPr lang="en-US" sz="1600" dirty="0"/>
                    </a:p>
                  </a:txBody>
                  <a:tcPr marL="65929" marR="65929" marT="32965" marB="32965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Variables </a:t>
                      </a:r>
                      <a:r>
                        <a:rPr lang="en-US" sz="1600" b="1" dirty="0" err="1"/>
                        <a:t>significativas</a:t>
                      </a:r>
                      <a:r>
                        <a:rPr lang="en-US" sz="1600" b="1" dirty="0"/>
                        <a:t> (p &lt; 0.05)</a:t>
                      </a:r>
                      <a:endParaRPr lang="en-US" sz="1600" dirty="0"/>
                    </a:p>
                  </a:txBody>
                  <a:tcPr marL="65929" marR="65929" marT="32965" marB="32965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err="1"/>
                        <a:t>Autocorrelación</a:t>
                      </a:r>
                      <a:r>
                        <a:rPr lang="en-US" sz="1600" b="1" dirty="0"/>
                        <a:t> </a:t>
                      </a:r>
                      <a:r>
                        <a:rPr lang="en-US" sz="1600" b="1" dirty="0" err="1"/>
                        <a:t>espacial</a:t>
                      </a:r>
                      <a:r>
                        <a:rPr lang="en-US" sz="1600" b="1" dirty="0"/>
                        <a:t> (lambda)</a:t>
                      </a:r>
                      <a:endParaRPr lang="en-US" sz="1600" dirty="0"/>
                    </a:p>
                  </a:txBody>
                  <a:tcPr marL="65929" marR="65929" marT="32965" marB="32965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6316358"/>
                  </a:ext>
                </a:extLst>
              </a:tr>
              <a:tr h="638059">
                <a:tc>
                  <a:txBody>
                    <a:bodyPr/>
                    <a:lstStyle/>
                    <a:p>
                      <a:r>
                        <a:rPr lang="en-US" sz="1400" b="1"/>
                        <a:t>1. OLS clásico</a:t>
                      </a:r>
                      <a:endParaRPr lang="en-US" sz="1400"/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0.4583</a:t>
                      </a:r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bio3_mean, bio4_mean</a:t>
                      </a:r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No</a:t>
                      </a:r>
                    </a:p>
                  </a:txBody>
                  <a:tcPr marL="65929" marR="65929" marT="32965" marB="32965" anchor="ctr"/>
                </a:tc>
                <a:extLst>
                  <a:ext uri="{0D108BD9-81ED-4DB2-BD59-A6C34878D82A}">
                    <a16:rowId xmlns:a16="http://schemas.microsoft.com/office/drawing/2014/main" val="3698176643"/>
                  </a:ext>
                </a:extLst>
              </a:tr>
              <a:tr h="747199">
                <a:tc>
                  <a:txBody>
                    <a:bodyPr/>
                    <a:lstStyle/>
                    <a:p>
                      <a:r>
                        <a:rPr lang="en-US" sz="1400" b="1" dirty="0"/>
                        <a:t>2. OLS con </a:t>
                      </a:r>
                      <a:r>
                        <a:rPr lang="en-US" sz="1400" b="1" dirty="0" err="1"/>
                        <a:t>W_pg</a:t>
                      </a:r>
                      <a:endParaRPr lang="en-US" sz="1400" b="1" dirty="0"/>
                    </a:p>
                    <a:p>
                      <a:r>
                        <a:rPr lang="en-US" sz="1400" b="1" dirty="0"/>
                        <a:t>SAR </a:t>
                      </a:r>
                      <a:r>
                        <a:rPr lang="en-US" sz="1400" b="1" dirty="0" err="1"/>
                        <a:t>exógeno</a:t>
                      </a:r>
                      <a:endParaRPr lang="en-US" sz="1400" dirty="0"/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0.5284</a:t>
                      </a:r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W_bio3_mean</a:t>
                      </a:r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</a:p>
                  </a:txBody>
                  <a:tcPr marL="65929" marR="65929" marT="32965" marB="32965" anchor="ctr"/>
                </a:tc>
                <a:extLst>
                  <a:ext uri="{0D108BD9-81ED-4DB2-BD59-A6C34878D82A}">
                    <a16:rowId xmlns:a16="http://schemas.microsoft.com/office/drawing/2014/main" val="528400343"/>
                  </a:ext>
                </a:extLst>
              </a:tr>
              <a:tr h="714877">
                <a:tc>
                  <a:txBody>
                    <a:bodyPr/>
                    <a:lstStyle/>
                    <a:p>
                      <a:r>
                        <a:rPr lang="en-US" sz="1400" b="1" dirty="0"/>
                        <a:t>3. Variable </a:t>
                      </a:r>
                      <a:r>
                        <a:rPr lang="en-US" sz="1400" b="1" dirty="0" err="1"/>
                        <a:t>dependente</a:t>
                      </a:r>
                      <a:r>
                        <a:rPr lang="en-US" sz="1400" b="1" dirty="0"/>
                        <a:t> </a:t>
                      </a:r>
                      <a:r>
                        <a:rPr lang="en-US" sz="1400" b="1" dirty="0" err="1"/>
                        <a:t>rezagada</a:t>
                      </a:r>
                      <a:r>
                        <a:rPr lang="en-US" sz="1400" b="1" dirty="0"/>
                        <a:t> (Spatial lag)</a:t>
                      </a:r>
                      <a:endParaRPr lang="en-US" sz="1400" dirty="0"/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0.5020</a:t>
                      </a:r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Bio3_mean</a:t>
                      </a:r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 err="1"/>
                        <a:t>Sí</a:t>
                      </a:r>
                      <a:r>
                        <a:rPr lang="en-US" sz="1400" dirty="0"/>
                        <a:t> (lambda = 0.0706)</a:t>
                      </a:r>
                    </a:p>
                  </a:txBody>
                  <a:tcPr marL="65929" marR="65929" marT="32965" marB="32965" anchor="ctr"/>
                </a:tc>
                <a:extLst>
                  <a:ext uri="{0D108BD9-81ED-4DB2-BD59-A6C34878D82A}">
                    <a16:rowId xmlns:a16="http://schemas.microsoft.com/office/drawing/2014/main" val="2087166097"/>
                  </a:ext>
                </a:extLst>
              </a:tr>
              <a:tr h="966492">
                <a:tc>
                  <a:txBody>
                    <a:bodyPr/>
                    <a:lstStyle/>
                    <a:p>
                      <a:r>
                        <a:rPr lang="en-US" sz="1400" b="1" dirty="0"/>
                        <a:t>4. Error </a:t>
                      </a:r>
                      <a:r>
                        <a:rPr lang="en-US" sz="1400" b="1" dirty="0" err="1"/>
                        <a:t>rezagado</a:t>
                      </a:r>
                      <a:r>
                        <a:rPr lang="en-US" sz="1400" b="1" dirty="0"/>
                        <a:t> (</a:t>
                      </a:r>
                      <a:r>
                        <a:rPr lang="en-US" sz="1400" b="1" dirty="0" err="1"/>
                        <a:t>knn</a:t>
                      </a:r>
                      <a:r>
                        <a:rPr lang="en-US" sz="1400" b="1" dirty="0"/>
                        <a:t>)</a:t>
                      </a:r>
                      <a:endParaRPr lang="en-US" sz="1400" dirty="0"/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0.4572</a:t>
                      </a:r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bio3_mean, bio4_mean, lambda (p = 0.034)</a:t>
                      </a:r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r>
                        <a:rPr lang="en-US" sz="1400" b="1" dirty="0" err="1"/>
                        <a:t>Sí</a:t>
                      </a:r>
                      <a:r>
                        <a:rPr lang="en-US" sz="1400" dirty="0"/>
                        <a:t> (lambda = 0.0487)</a:t>
                      </a:r>
                    </a:p>
                  </a:txBody>
                  <a:tcPr marL="65929" marR="65929" marT="32965" marB="32965" anchor="ctr"/>
                </a:tc>
                <a:extLst>
                  <a:ext uri="{0D108BD9-81ED-4DB2-BD59-A6C34878D82A}">
                    <a16:rowId xmlns:a16="http://schemas.microsoft.com/office/drawing/2014/main" val="2612780495"/>
                  </a:ext>
                </a:extLst>
              </a:tr>
              <a:tr h="1196762">
                <a:tc>
                  <a:txBody>
                    <a:bodyPr/>
                    <a:lstStyle/>
                    <a:p>
                      <a:r>
                        <a:rPr lang="es-MX" sz="1400" b="1"/>
                        <a:t>5. OLS con Regímenes (Regimes)</a:t>
                      </a:r>
                      <a:endParaRPr lang="es-MX" sz="1400"/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0.6743</a:t>
                      </a:r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bio3_mean (Magdalena-Cauca), bio4_mean marginal</a:t>
                      </a:r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</a:p>
                  </a:txBody>
                  <a:tcPr marL="65929" marR="65929" marT="32965" marB="32965" anchor="ctr"/>
                </a:tc>
                <a:extLst>
                  <a:ext uri="{0D108BD9-81ED-4DB2-BD59-A6C34878D82A}">
                    <a16:rowId xmlns:a16="http://schemas.microsoft.com/office/drawing/2014/main" val="3336792393"/>
                  </a:ext>
                </a:extLst>
              </a:tr>
            </a:tbl>
          </a:graphicData>
        </a:graphic>
      </p:graphicFrame>
      <p:sp>
        <p:nvSpPr>
          <p:cNvPr id="3" name="Título 2">
            <a:extLst>
              <a:ext uri="{FF2B5EF4-FFF2-40B4-BE49-F238E27FC236}">
                <a16:creationId xmlns:a16="http://schemas.microsoft.com/office/drawing/2014/main" id="{EDE0C861-674A-661E-87DD-5CF820C2C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Comparación de modelos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45686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7A4F3335-8C08-7526-99AC-1F7F55002F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9316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s-MX" sz="2400" dirty="0"/>
              <a:t>El patrón espacial de la densidad de </a:t>
            </a:r>
            <a:r>
              <a:rPr lang="es-MX" sz="2400" i="1" dirty="0" err="1"/>
              <a:t>Espeletia</a:t>
            </a:r>
            <a:r>
              <a:rPr lang="es-MX" sz="2400" dirty="0"/>
              <a:t> en POMCAS presenta autocorrelación espacial, y es importante usar modelos que consideren espacialidad.</a:t>
            </a:r>
            <a:endParaRPr lang="es-MX" sz="2400" i="1" dirty="0"/>
          </a:p>
          <a:p>
            <a:r>
              <a:rPr lang="es-MX" sz="2400" i="1" dirty="0"/>
              <a:t>bio3</a:t>
            </a:r>
            <a:r>
              <a:rPr lang="es-MX" sz="2400" dirty="0"/>
              <a:t> y </a:t>
            </a:r>
            <a:r>
              <a:rPr lang="es-MX" sz="2400" i="1" dirty="0"/>
              <a:t>bio4</a:t>
            </a:r>
            <a:r>
              <a:rPr lang="es-MX" sz="2400" dirty="0"/>
              <a:t> son las variables que más consistentemente explican la distribución de la densidad de especies (asociadas a temperatura e </a:t>
            </a:r>
            <a:r>
              <a:rPr lang="es-MX" sz="2400" dirty="0" err="1"/>
              <a:t>isotermalidad</a:t>
            </a:r>
            <a:r>
              <a:rPr lang="es-MX" sz="2400" dirty="0"/>
              <a:t>).</a:t>
            </a:r>
          </a:p>
          <a:p>
            <a:r>
              <a:rPr lang="es-MX" sz="2400" dirty="0"/>
              <a:t>El comportamiento espacial de la densidad de </a:t>
            </a:r>
            <a:r>
              <a:rPr lang="es-MX" sz="2400" i="1" dirty="0" err="1"/>
              <a:t>Espeletia</a:t>
            </a:r>
            <a:r>
              <a:rPr lang="es-MX" sz="2400" dirty="0"/>
              <a:t> varía por región. La inclusión de regímenes mejora sustancialmente el modelo. </a:t>
            </a:r>
            <a:r>
              <a:rPr lang="es-MX" sz="2400" dirty="0" err="1"/>
              <a:t>Isotermalidad</a:t>
            </a:r>
            <a:r>
              <a:rPr lang="es-MX" sz="2400" dirty="0"/>
              <a:t> y estacionalidad de temperatura son variables explicativas clave, especialmente en la región Magdalena-Cauca.</a:t>
            </a:r>
          </a:p>
          <a:p>
            <a:r>
              <a:rPr lang="es-MX" sz="2400" dirty="0"/>
              <a:t>La delimitación de los polígonos puede mejorar, ya que son muy extensos y abarcan un gradiente ambiental. Las observaciones de </a:t>
            </a:r>
            <a:r>
              <a:rPr lang="es-MX" sz="2400" i="1" dirty="0" err="1"/>
              <a:t>Espeletia</a:t>
            </a:r>
            <a:r>
              <a:rPr lang="es-MX" sz="2400" i="1" dirty="0"/>
              <a:t> </a:t>
            </a:r>
            <a:r>
              <a:rPr lang="es-MX" sz="2400" dirty="0"/>
              <a:t>solo están en la cabecera de las cuencas.</a:t>
            </a:r>
            <a:endParaRPr lang="en-US" sz="2400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483EA77D-6B93-12F9-F46B-2A3703405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Conclusiones y perspectivas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45292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657F69E0-C4B0-4BEC-A689-4F8D877F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4A6960B-289D-1B24-EC5D-6B4C1EC946F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13942" r="-1" b="5101"/>
          <a:stretch>
            <a:fillRect/>
          </a:stretch>
        </p:blipFill>
        <p:spPr>
          <a:xfrm>
            <a:off x="20" y="10"/>
            <a:ext cx="12188930" cy="6857990"/>
          </a:xfrm>
          <a:prstGeom prst="rect">
            <a:avLst/>
          </a:prstGeom>
        </p:spPr>
      </p:pic>
      <p:sp>
        <p:nvSpPr>
          <p:cNvPr id="3" name="Título 2">
            <a:extLst>
              <a:ext uri="{FF2B5EF4-FFF2-40B4-BE49-F238E27FC236}">
                <a16:creationId xmlns:a16="http://schemas.microsoft.com/office/drawing/2014/main" id="{C6C1BFAE-801F-6A76-50C3-2FD3979A5D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063240"/>
          </a:xfrm>
        </p:spPr>
        <p:txBody>
          <a:bodyPr>
            <a:normAutofit/>
          </a:bodyPr>
          <a:lstStyle/>
          <a:p>
            <a:r>
              <a:rPr lang="es-CO" sz="6600">
                <a:solidFill>
                  <a:schemeClr val="bg1"/>
                </a:solidFill>
              </a:rPr>
              <a:t>Gracias</a:t>
            </a:r>
            <a:endParaRPr lang="en-US" sz="6600">
              <a:solidFill>
                <a:schemeClr val="bg1"/>
              </a:solidFill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686B59DD-D639-E845-F69A-C46983A784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7048" y="4599432"/>
            <a:ext cx="9144000" cy="1536192"/>
          </a:xfrm>
        </p:spPr>
        <p:txBody>
          <a:bodyPr>
            <a:normAutofit/>
          </a:bodyPr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15" name="sketchy line">
            <a:extLst>
              <a:ext uri="{FF2B5EF4-FFF2-40B4-BE49-F238E27FC236}">
                <a16:creationId xmlns:a16="http://schemas.microsoft.com/office/drawing/2014/main" id="{9F6380B4-6A1C-481E-8408-B4E6C75B9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368623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38829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Papel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617</TotalTime>
  <Words>527</Words>
  <Application>Microsoft Office PowerPoint</Application>
  <PresentationFormat>Panorámica</PresentationFormat>
  <Paragraphs>86</Paragraphs>
  <Slides>22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22</vt:i4>
      </vt:variant>
    </vt:vector>
  </HeadingPairs>
  <TitlesOfParts>
    <vt:vector size="28" baseType="lpstr">
      <vt:lpstr>Ancizar Sans</vt:lpstr>
      <vt:lpstr>Ancizar Serif</vt:lpstr>
      <vt:lpstr>Aptos</vt:lpstr>
      <vt:lpstr>Aptos Display</vt:lpstr>
      <vt:lpstr>Arial</vt:lpstr>
      <vt:lpstr>Tema de Office</vt:lpstr>
      <vt:lpstr>Presentación de PowerPoint</vt:lpstr>
      <vt:lpstr>Introducción</vt:lpstr>
      <vt:lpstr>Patrón de puntos - Visualización</vt:lpstr>
      <vt:lpstr>Agrupamiento de las observaciones</vt:lpstr>
      <vt:lpstr>Base de Datos - Compilación</vt:lpstr>
      <vt:lpstr>Elección de las Variables</vt:lpstr>
      <vt:lpstr>Variable respuesta</vt:lpstr>
      <vt:lpstr>Dependencia espacial – Índice Moran</vt:lpstr>
      <vt:lpstr>Dependencia espacial – Índice Moran</vt:lpstr>
      <vt:lpstr>Dependencia espacial – Índice Moran</vt:lpstr>
      <vt:lpstr>Clustering k-means</vt:lpstr>
      <vt:lpstr>Modelos - Variable respuesta</vt:lpstr>
      <vt:lpstr>Modelos - Variable respuesta</vt:lpstr>
      <vt:lpstr>1. Regresión lineal OLS</vt:lpstr>
      <vt:lpstr>Residuales – Modelo lineal OLS</vt:lpstr>
      <vt:lpstr>2. Modelo SAR exógeno</vt:lpstr>
      <vt:lpstr>3. Modelo SAR endógeno </vt:lpstr>
      <vt:lpstr>4. Modelo con error rezagado </vt:lpstr>
      <vt:lpstr>5. Modelos - Heterogeneidad Espacial</vt:lpstr>
      <vt:lpstr>Comparación de modelos</vt:lpstr>
      <vt:lpstr>Conclusiones y perspectivas</vt:lpstr>
      <vt:lpstr>Gracias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 Rojas Hernández</dc:creator>
  <cp:lastModifiedBy>Daniel  Rojas Hernández</cp:lastModifiedBy>
  <cp:revision>67</cp:revision>
  <dcterms:created xsi:type="dcterms:W3CDTF">2025-06-25T03:29:26Z</dcterms:created>
  <dcterms:modified xsi:type="dcterms:W3CDTF">2025-06-25T13:46:58Z</dcterms:modified>
</cp:coreProperties>
</file>