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0"/>
  </p:notesMasterIdLst>
  <p:sldIdLst>
    <p:sldId id="264" r:id="rId2"/>
    <p:sldId id="266" r:id="rId3"/>
    <p:sldId id="267" r:id="rId4"/>
    <p:sldId id="269" r:id="rId5"/>
    <p:sldId id="278" r:id="rId6"/>
    <p:sldId id="280" r:id="rId7"/>
    <p:sldId id="281" r:id="rId8"/>
    <p:sldId id="260" r:id="rId9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C486"/>
    <a:srgbClr val="EEE9E3"/>
    <a:srgbClr val="F2E6CC"/>
    <a:srgbClr val="E03A00"/>
    <a:srgbClr val="172B7E"/>
    <a:srgbClr val="2BA287"/>
    <a:srgbClr val="19A78C"/>
    <a:srgbClr val="19937C"/>
    <a:srgbClr val="43AB97"/>
    <a:srgbClr val="CC0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969" autoAdjust="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06D32-3F26-4A60-B79B-32791D3BB2C9}" type="datetimeFigureOut">
              <a:rPr lang="es-CO" smtClean="0"/>
              <a:t>24/06/2025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695FE-B573-405B-994F-FAFC23062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91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C620-E659-49B0-9EFB-BB66AA813A77}" type="datetime1">
              <a:rPr lang="es-ES" smtClean="0"/>
              <a:t>24/06/2025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17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68595"/>
            <a:ext cx="8229600" cy="69463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77E6E-80CA-4637-84D1-CB00AA43C9A5}" type="datetime1">
              <a:rPr lang="es-ES" smtClean="0"/>
              <a:t>24/06/2025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01256" y="18054"/>
            <a:ext cx="2133600" cy="273844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s-ES" dirty="0"/>
              <a:t>Página </a:t>
            </a:r>
            <a:fld id="{90BC2BA4-81C0-F544-BD72-C8CB9DA7C802}" type="slidenum">
              <a:rPr lang="es-ES" smtClean="0"/>
              <a:pPr/>
              <a:t>‹Nº›</a:t>
            </a:fld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055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2299790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1174649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04BB-03C1-49D0-8ADB-9D0B173DA53B}" type="datetime1">
              <a:rPr lang="es-ES" smtClean="0"/>
              <a:t>24/06/2025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98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8A97A-0D3F-47CA-A347-054B7FE5852E}" type="datetime1">
              <a:rPr lang="es-ES" smtClean="0"/>
              <a:t>24/06/2025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1D78991F-287D-0639-B3A9-25B72B76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303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C8795-6BD1-4429-BD75-9B388C62CDEE}" type="datetime1">
              <a:rPr lang="es-ES" smtClean="0"/>
              <a:t>24/06/2025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B2016B63-56CA-91C8-8D94-3736CC5D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454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A773-67CF-4861-89BB-2127413ABA21}" type="datetime1">
              <a:rPr lang="es-ES" smtClean="0"/>
              <a:t>24/06/2025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ED5BEC-1B11-157D-6B6B-7EC9DA38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8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ADB17-4F6B-498B-894E-4985DAFC70C1}" type="datetime1">
              <a:rPr lang="es-ES" smtClean="0"/>
              <a:t>24/06/2025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29E16D5E-FC12-627C-C32C-2D79CE9D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41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5D58-D3C6-4A98-BBED-E11D62DD4FB7}" type="datetime1">
              <a:rPr lang="es-ES" smtClean="0"/>
              <a:t>24/06/2025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27E0BABE-B629-4063-8894-C3E90357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97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8C981-BD54-46FE-919F-B5B29C8804F4}" type="datetime1">
              <a:rPr lang="es-ES" smtClean="0"/>
              <a:t>24/06/2025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8F88F565-A7F0-7C19-A7F7-953C9727E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998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311887"/>
            <a:ext cx="8229600" cy="751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30C37-EE32-4163-B0FE-3AD7FB21F6FB}" type="datetime1">
              <a:rPr lang="es-ES" smtClean="0"/>
              <a:t>24/06/2025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61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76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130243" y="696065"/>
            <a:ext cx="6570424" cy="24046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solidFill>
                  <a:schemeClr val="accent3"/>
                </a:solidFill>
                <a:latin typeface="Ancizar Serif"/>
                <a:cs typeface="Ancizar Serif"/>
              </a:rPr>
              <a:t>Modelamiento de patrones de distribución del género </a:t>
            </a:r>
            <a:r>
              <a:rPr lang="es-MX" sz="3200" i="1" dirty="0" err="1">
                <a:solidFill>
                  <a:schemeClr val="accent3"/>
                </a:solidFill>
                <a:latin typeface="Ancizar Serif"/>
                <a:cs typeface="Ancizar Serif"/>
              </a:rPr>
              <a:t>Espeletia</a:t>
            </a:r>
            <a:r>
              <a:rPr lang="es-MX" sz="3200" dirty="0">
                <a:solidFill>
                  <a:schemeClr val="accent3"/>
                </a:solidFill>
                <a:latin typeface="Ancizar Serif"/>
                <a:cs typeface="Ancizar Serif"/>
              </a:rPr>
              <a:t> en el norte de los Andes</a:t>
            </a:r>
            <a:endParaRPr lang="es-ES" sz="3200" dirty="0">
              <a:solidFill>
                <a:schemeClr val="accent3"/>
              </a:solidFill>
              <a:latin typeface="Ancizar Serif"/>
              <a:cs typeface="Ancizar Serif"/>
            </a:endParaRPr>
          </a:p>
        </p:txBody>
      </p:sp>
      <p:cxnSp>
        <p:nvCxnSpPr>
          <p:cNvPr id="4" name="Conector recto 3"/>
          <p:cNvCxnSpPr>
            <a:cxnSpLocks/>
          </p:cNvCxnSpPr>
          <p:nvPr/>
        </p:nvCxnSpPr>
        <p:spPr>
          <a:xfrm>
            <a:off x="1130243" y="2898880"/>
            <a:ext cx="6570424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CuadroTexto 4"/>
          <p:cNvSpPr txBox="1"/>
          <p:nvPr/>
        </p:nvSpPr>
        <p:spPr>
          <a:xfrm>
            <a:off x="2642216" y="3060454"/>
            <a:ext cx="354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4"/>
                </a:solidFill>
                <a:latin typeface="Ancizar Sans"/>
                <a:cs typeface="Ancizar Sans"/>
              </a:rPr>
              <a:t>Daniel A. Rojas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314820" y="3429785"/>
            <a:ext cx="6201268" cy="1017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14C486"/>
                </a:solidFill>
                <a:latin typeface="Ancizar Serif"/>
                <a:cs typeface="Ancizar Serif"/>
              </a:rPr>
              <a:t>Curso: Análisis Geoespacial</a:t>
            </a:r>
          </a:p>
          <a:p>
            <a:r>
              <a:rPr lang="es-ES" sz="1800" dirty="0">
                <a:solidFill>
                  <a:srgbClr val="14C486"/>
                </a:solidFill>
                <a:latin typeface="Ancizar Serif"/>
                <a:cs typeface="Ancizar Serif"/>
              </a:rPr>
              <a:t>Universidad Nacional de Colombia – sede Medellín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185DE8-C48F-FD75-EF42-14FD2D29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44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Introducción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77376" y="783313"/>
            <a:ext cx="7877165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Espeletia Mutis ex Humb. &amp; Bonpl.</a:t>
            </a:r>
            <a:endParaRPr lang="es-ES" sz="1600" spc="300" dirty="0">
              <a:solidFill>
                <a:schemeClr val="accent3"/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 de Minas</a:t>
            </a: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Medellín</a:t>
            </a:r>
            <a:endParaRPr lang="es-CO" sz="900" i="1" dirty="0">
              <a:solidFill>
                <a:schemeClr val="bg2"/>
              </a:solidFill>
              <a:latin typeface="Ancizar Sans" panose="020B0602040300000003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9516F2-735F-7E69-280C-802579BCBF47}"/>
              </a:ext>
            </a:extLst>
          </p:cNvPr>
          <p:cNvSpPr txBox="1"/>
          <p:nvPr/>
        </p:nvSpPr>
        <p:spPr>
          <a:xfrm>
            <a:off x="358727" y="1147329"/>
            <a:ext cx="4283612" cy="232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just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MX" dirty="0"/>
              <a:t>Comúnmente conocidos como </a:t>
            </a:r>
            <a:r>
              <a:rPr lang="es-MX" dirty="0" err="1"/>
              <a:t>frailejónes</a:t>
            </a:r>
            <a:r>
              <a:rPr lang="es-MX" dirty="0"/>
              <a:t>, es un género emblemático de plantas endémicas de los ecosistemas altoandinos, especialmente los páramos. Su distribución, adaptaciones y relevancia ecológica la convierten en un excelente modelo para estudiar patrones de biodiversidad, clima y conservación en zonas de montaña.</a:t>
            </a:r>
            <a:endParaRPr lang="es-CO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855C34E-49A4-E9E8-72CE-F1DF8217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3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A6DE26F-F424-4949-BC97-31BCDD34EC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15" t="5171" r="26308" b="11554"/>
          <a:stretch/>
        </p:blipFill>
        <p:spPr>
          <a:xfrm>
            <a:off x="4825218" y="1270034"/>
            <a:ext cx="3854548" cy="2868442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11C7786-1AF2-663E-4708-38660558F092}"/>
              </a:ext>
            </a:extLst>
          </p:cNvPr>
          <p:cNvSpPr txBox="1"/>
          <p:nvPr/>
        </p:nvSpPr>
        <p:spPr>
          <a:xfrm>
            <a:off x="4825219" y="4175521"/>
            <a:ext cx="385454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900" dirty="0" err="1"/>
              <a:t>Espeletia</a:t>
            </a:r>
            <a:r>
              <a:rPr lang="es-MX" sz="900" dirty="0"/>
              <a:t> </a:t>
            </a:r>
            <a:r>
              <a:rPr lang="es-MX" sz="900" dirty="0" err="1"/>
              <a:t>hartwegiana</a:t>
            </a:r>
            <a:r>
              <a:rPr lang="es-MX" sz="900" dirty="0"/>
              <a:t> </a:t>
            </a:r>
            <a:r>
              <a:rPr lang="es-MX" sz="900" dirty="0" err="1"/>
              <a:t>Cuatrec</a:t>
            </a:r>
            <a:r>
              <a:rPr lang="es-MX" sz="900" dirty="0"/>
              <a:t>. ex Herzog. Observado en por </a:t>
            </a:r>
            <a:r>
              <a:rPr lang="es-MX" sz="900" dirty="0" err="1"/>
              <a:t>korenbosworth</a:t>
            </a:r>
            <a:r>
              <a:rPr lang="es-MX" sz="900" dirty="0"/>
              <a:t> (bajo una licencia http://creativecommons.org/licenses/by-nc/4.0/)</a:t>
            </a:r>
            <a:endParaRPr lang="en-US" sz="900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8581300-B8A1-8025-4B4A-AF3BE88F57EB}"/>
              </a:ext>
            </a:extLst>
          </p:cNvPr>
          <p:cNvSpPr/>
          <p:nvPr/>
        </p:nvSpPr>
        <p:spPr>
          <a:xfrm>
            <a:off x="358727" y="3510981"/>
            <a:ext cx="4283612" cy="97038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dirty="0">
                <a:solidFill>
                  <a:schemeClr val="tx1">
                    <a:lumMod val="90000"/>
                    <a:lumOff val="10000"/>
                  </a:schemeClr>
                </a:solidFill>
              </a:rPr>
              <a:t>Objetivo</a:t>
            </a:r>
          </a:p>
          <a:p>
            <a:r>
              <a:rPr lang="en-US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Entender</a:t>
            </a:r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qué</a:t>
            </a:r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condiciones</a:t>
            </a:r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ambientales</a:t>
            </a:r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pueden</a:t>
            </a:r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explicar</a:t>
            </a:r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la </a:t>
            </a:r>
            <a:r>
              <a:rPr lang="en-US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distribución</a:t>
            </a:r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los</a:t>
            </a:r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frailejones</a:t>
            </a:r>
            <a:endParaRPr lang="en-US" sz="16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19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B99E8-A13D-3005-E1EF-21CE884F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B6DF3EC-64E1-CF5A-4E27-EBB4BA73D9D5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Patrón de puntos - Visualización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3994144-E4BC-B8E3-ED89-D16076730A70}"/>
              </a:ext>
            </a:extLst>
          </p:cNvPr>
          <p:cNvSpPr txBox="1">
            <a:spLocks/>
          </p:cNvSpPr>
          <p:nvPr/>
        </p:nvSpPr>
        <p:spPr>
          <a:xfrm>
            <a:off x="477377" y="783313"/>
            <a:ext cx="4938686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Puntos de ocurrencias </a:t>
            </a:r>
            <a:r>
              <a:rPr lang="es-CO" sz="1400" i="1" spc="300" dirty="0" err="1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Espeletia</a:t>
            </a:r>
            <a:r>
              <a:rPr lang="es-CO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 - GBIF</a:t>
            </a:r>
            <a:endParaRPr lang="es-ES" sz="1400" spc="300" dirty="0">
              <a:solidFill>
                <a:schemeClr val="accent3"/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F3E163-4AF9-94A0-08E1-2A969979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4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70B3385-99EE-9339-31A1-D7FA08ACB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063" y="411105"/>
            <a:ext cx="3446784" cy="414056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652059E-7672-EFAA-A608-FC4581418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77" y="1202869"/>
            <a:ext cx="4579532" cy="32297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C047916-44A0-F8D8-ECC3-F43052678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77" y="1202868"/>
            <a:ext cx="4579532" cy="322972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4A8C2C8-A651-A613-6C28-648F7958D9A7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 de Minas</a:t>
            </a: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Medellín</a:t>
            </a:r>
            <a:endParaRPr lang="es-CO" sz="900" i="1" dirty="0">
              <a:solidFill>
                <a:schemeClr val="bg2"/>
              </a:solidFill>
              <a:latin typeface="Ancizar Sans" panose="020B06020403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11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B7C345-CD3C-78CA-95D8-65ABFFC4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 </a:t>
            </a:r>
            <a:fld id="{90BC2BA4-81C0-F544-BD72-C8CB9DA7C802}" type="slidenum">
              <a:rPr lang="es-ES" smtClean="0"/>
              <a:pPr/>
              <a:t>5</a:t>
            </a:fld>
            <a:r>
              <a:rPr lang="es-ES"/>
              <a:t> 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B7FE06C-A8E8-F76C-6C48-6B08FB64D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5935"/>
            <a:ext cx="5324168" cy="273814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B4B68AD-25A0-82C8-C8F2-D35744C9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692" y="666514"/>
            <a:ext cx="3079068" cy="3607565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0692DF58-63A8-B67D-992E-7E9A29C5B7D8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Base de Datos - Compilación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4E5FAED0-A4AE-1601-C535-86412FC613E8}"/>
              </a:ext>
            </a:extLst>
          </p:cNvPr>
          <p:cNvSpPr txBox="1">
            <a:spLocks/>
          </p:cNvSpPr>
          <p:nvPr/>
        </p:nvSpPr>
        <p:spPr>
          <a:xfrm>
            <a:off x="457200" y="827302"/>
            <a:ext cx="5888255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Superposición de bandas con variables</a:t>
            </a:r>
          </a:p>
          <a:p>
            <a:pPr algn="l"/>
            <a:r>
              <a:rPr lang="es-CO" sz="1400" spc="300" dirty="0" err="1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Bioclimaticas</a:t>
            </a:r>
            <a:r>
              <a:rPr lang="es-CO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 – </a:t>
            </a:r>
            <a:r>
              <a:rPr lang="es-CO" sz="1400" spc="300" dirty="0" err="1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WorldClim</a:t>
            </a:r>
            <a:r>
              <a:rPr lang="es-CO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 (</a:t>
            </a:r>
            <a:r>
              <a:rPr lang="es-CO" sz="1400" spc="300" dirty="0" err="1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Prom</a:t>
            </a:r>
            <a:r>
              <a:rPr lang="es-CO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 1960 – 1990)</a:t>
            </a:r>
            <a:endParaRPr lang="es-ES" sz="1400" spc="300" dirty="0">
              <a:solidFill>
                <a:schemeClr val="accent3"/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46C397F-6FB5-3407-D88A-238A56BAAFAB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 de Minas</a:t>
            </a: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Medellín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009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2CC90-0A50-5C80-94A8-8DFF16EC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1756D7-05D2-4B22-4FEC-3E64E5B2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6</a:t>
            </a:fld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8EA192-1F60-8A6E-C598-DD4411158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308" y="154976"/>
            <a:ext cx="4379647" cy="451513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C07A368-6FAD-1BB9-CEF8-714CD2E95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" y="2833614"/>
            <a:ext cx="3701002" cy="183649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6823421-07C1-12CD-679B-3221D71978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35" y="1198324"/>
            <a:ext cx="3770959" cy="1459172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3824A64B-C3A5-0D73-2F14-C3C9B28AAD31}"/>
              </a:ext>
            </a:extLst>
          </p:cNvPr>
          <p:cNvSpPr/>
          <p:nvPr/>
        </p:nvSpPr>
        <p:spPr>
          <a:xfrm>
            <a:off x="485334" y="3536439"/>
            <a:ext cx="168813" cy="9214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A741DCE-CDC3-088A-9BC2-6DD57CD8BAC7}"/>
              </a:ext>
            </a:extLst>
          </p:cNvPr>
          <p:cNvSpPr/>
          <p:nvPr/>
        </p:nvSpPr>
        <p:spPr>
          <a:xfrm>
            <a:off x="840326" y="3961812"/>
            <a:ext cx="367151" cy="4960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C92C438-6C02-58EA-CFDF-E2ECDBAD4CD0}"/>
              </a:ext>
            </a:extLst>
          </p:cNvPr>
          <p:cNvSpPr/>
          <p:nvPr/>
        </p:nvSpPr>
        <p:spPr>
          <a:xfrm>
            <a:off x="1594338" y="4220308"/>
            <a:ext cx="128954" cy="2375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2EF682C-46A7-332E-3AA7-DA7CB5E35A9D}"/>
              </a:ext>
            </a:extLst>
          </p:cNvPr>
          <p:cNvSpPr/>
          <p:nvPr/>
        </p:nvSpPr>
        <p:spPr>
          <a:xfrm>
            <a:off x="2502877" y="3645877"/>
            <a:ext cx="128954" cy="811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7D5A2F4-9EFB-18EE-6D29-B2322211548E}"/>
              </a:ext>
            </a:extLst>
          </p:cNvPr>
          <p:cNvSpPr/>
          <p:nvPr/>
        </p:nvSpPr>
        <p:spPr>
          <a:xfrm>
            <a:off x="3036277" y="3886200"/>
            <a:ext cx="169985" cy="571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C63BFE6E-0E52-20AC-9D0E-A48E41D2F337}"/>
              </a:ext>
            </a:extLst>
          </p:cNvPr>
          <p:cNvSpPr txBox="1">
            <a:spLocks/>
          </p:cNvSpPr>
          <p:nvPr/>
        </p:nvSpPr>
        <p:spPr>
          <a:xfrm>
            <a:off x="436341" y="442211"/>
            <a:ext cx="3346479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Elección de las Variables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251146D-6BAB-8EB1-0C71-46335F6348A9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 de Minas</a:t>
            </a: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Medellín</a:t>
            </a:r>
            <a:endParaRPr lang="es-CO" sz="900" i="1" dirty="0">
              <a:solidFill>
                <a:schemeClr val="bg2"/>
              </a:solidFill>
              <a:latin typeface="Ancizar Sans" panose="020B06020403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72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68CE12-0E89-608F-6E28-5211A10D6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76D1D1-0CDC-7B05-8E95-DBD593A9C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CADB2E-A6C1-F22C-C066-B04E522B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 </a:t>
            </a:r>
            <a:fld id="{90BC2BA4-81C0-F544-BD72-C8CB9DA7C802}" type="slidenum">
              <a:rPr lang="es-ES" smtClean="0"/>
              <a:pPr/>
              <a:t>7</a:t>
            </a:fld>
            <a:r>
              <a:rPr lang="es-ES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1167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3514723" y="2190490"/>
            <a:ext cx="2093483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o-RO" sz="3200" i="1" dirty="0">
                <a:solidFill>
                  <a:schemeClr val="bg2"/>
                </a:solidFill>
                <a:latin typeface="Ancizar Serif"/>
                <a:cs typeface="Ancizar Serif"/>
              </a:rPr>
              <a:t>Gracias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246A0C8-F2FD-4F7E-1C1F-1636098F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190908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-presentacion">
  <a:themeElements>
    <a:clrScheme name="UNAL 2024">
      <a:dk1>
        <a:srgbClr val="29272D"/>
      </a:dk1>
      <a:lt1>
        <a:srgbClr val="F7F5F2"/>
      </a:lt1>
      <a:dk2>
        <a:srgbClr val="481F63"/>
      </a:dk2>
      <a:lt2>
        <a:srgbClr val="F8ECCD"/>
      </a:lt2>
      <a:accent1>
        <a:srgbClr val="620C78"/>
      </a:accent1>
      <a:accent2>
        <a:srgbClr val="FFB93E"/>
      </a:accent2>
      <a:accent3>
        <a:srgbClr val="06784F"/>
      </a:accent3>
      <a:accent4>
        <a:srgbClr val="14C486"/>
      </a:accent4>
      <a:accent5>
        <a:srgbClr val="9F00C4"/>
      </a:accent5>
      <a:accent6>
        <a:srgbClr val="F79646"/>
      </a:accent6>
      <a:hlink>
        <a:srgbClr val="14C486"/>
      </a:hlink>
      <a:folHlink>
        <a:srgbClr val="9F00C4"/>
      </a:folHlink>
    </a:clrScheme>
    <a:fontScheme name="OCE">
      <a:majorFont>
        <a:latin typeface="Ancizar Serif Extrabold"/>
        <a:ea typeface=""/>
        <a:cs typeface=""/>
      </a:majorFont>
      <a:minorFont>
        <a:latin typeface="Ancizar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680</TotalTime>
  <Words>189</Words>
  <Application>Microsoft Office PowerPoint</Application>
  <PresentationFormat>Presentación en pantalla (16:9)</PresentationFormat>
  <Paragraphs>32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Ancizar Sans</vt:lpstr>
      <vt:lpstr>Ancizar Sans Light</vt:lpstr>
      <vt:lpstr>Ancizar Serif</vt:lpstr>
      <vt:lpstr>Ancizar Serif Extrabold</vt:lpstr>
      <vt:lpstr>Aptos</vt:lpstr>
      <vt:lpstr>Arial</vt:lpstr>
      <vt:lpstr>Plantilla-presentacion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</dc:creator>
  <cp:lastModifiedBy>Daniel  Rojas Hernández</cp:lastModifiedBy>
  <cp:revision>63</cp:revision>
  <dcterms:created xsi:type="dcterms:W3CDTF">2024-06-25T17:03:54Z</dcterms:created>
  <dcterms:modified xsi:type="dcterms:W3CDTF">2025-06-25T04:15:30Z</dcterms:modified>
</cp:coreProperties>
</file>