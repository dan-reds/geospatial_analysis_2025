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8" r:id="rId3"/>
    <p:sldId id="258" r:id="rId4"/>
    <p:sldId id="262" r:id="rId5"/>
    <p:sldId id="259" r:id="rId6"/>
    <p:sldId id="260" r:id="rId7"/>
    <p:sldId id="289" r:id="rId8"/>
    <p:sldId id="269" r:id="rId9"/>
    <p:sldId id="270" r:id="rId10"/>
    <p:sldId id="287" r:id="rId11"/>
    <p:sldId id="275" r:id="rId12"/>
    <p:sldId id="285" r:id="rId13"/>
    <p:sldId id="295" r:id="rId14"/>
    <p:sldId id="296" r:id="rId15"/>
    <p:sldId id="276" r:id="rId16"/>
    <p:sldId id="294" r:id="rId17"/>
    <p:sldId id="293" r:id="rId18"/>
    <p:sldId id="291" r:id="rId19"/>
    <p:sldId id="292" r:id="rId20"/>
    <p:sldId id="297" r:id="rId21"/>
    <p:sldId id="284" r:id="rId22"/>
    <p:sldId id="28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C4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D20515-1B44-05AD-00DF-6CA4255CF3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B98C61-CF76-411F-CFE0-5B5B2723D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E513A9-53B2-B98C-1E49-C9180C870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5C1CF-0291-4A99-8996-2C79A02BBBFC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8333DF-B58F-2930-74B7-9B2B7F4AA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5E6A82-9BE1-C2F5-A475-89B6059B6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BE38A-2556-43DC-AB7E-315403085C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013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EB2587-5913-DA1F-CC65-3DB489A42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7ABF2A-D9A0-1325-25FF-0AB0A895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5C1CF-0291-4A99-8996-2C79A02BBBFC}" type="datetimeFigureOut">
              <a:rPr lang="en-US" smtClean="0"/>
              <a:t>7/25/2025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B0B2EC-C501-F158-0375-F2FF3D8D1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4BCD08-DC67-03B6-45C1-11FAA1E2E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BE38A-2556-43DC-AB7E-315403085C6A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3786422-13E7-16B3-1766-068E464ED460}"/>
              </a:ext>
            </a:extLst>
          </p:cNvPr>
          <p:cNvSpPr/>
          <p:nvPr userDrawn="1"/>
        </p:nvSpPr>
        <p:spPr>
          <a:xfrm>
            <a:off x="0" y="245513"/>
            <a:ext cx="12192000" cy="80857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67B13F5-E285-A6FE-DF59-26EECFFC1C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399" y="6176963"/>
            <a:ext cx="1343891" cy="57763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1230485-3901-7B29-E879-3BA130A1D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927" y="270550"/>
            <a:ext cx="12192000" cy="758503"/>
          </a:xfrm>
          <a:noFill/>
        </p:spPr>
        <p:txBody>
          <a:bodyPr>
            <a:normAutofit/>
          </a:bodyPr>
          <a:lstStyle>
            <a:lvl1pPr>
              <a:defRPr sz="4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647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ABC0C-D997-490D-2A1C-3D416F935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42F3CB-BC68-8908-9FA4-527DE705F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BCCE90-0230-2EDE-4E1A-EDBB7BAF7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5C1CF-0291-4A99-8996-2C79A02BBBFC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2D2CCD-939B-D8A7-19AF-820DD455F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621A1C-E560-5EDF-2E01-32501E9E3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BE38A-2556-43DC-AB7E-315403085C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031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880000-2B83-5202-A219-D2E9446BA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4F1C74-CDB9-972B-A983-1614066FB0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0DE73D-38D1-9CA7-7683-48FA90E7F7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C2FE80F-372F-FD23-C5FB-0A978C408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5C1CF-0291-4A99-8996-2C79A02BBBFC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9D4F93E-6CF1-764F-C525-584D6849C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89EFF42-410E-E76D-93F0-114F0027D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BE38A-2556-43DC-AB7E-315403085C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979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389915-8543-B7D9-8EB7-AB12DC5DC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B04AA2-F588-21F3-F9D9-7F298072C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D813E8A-7744-362F-7704-CFC4C136FF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B10E414-C7CA-5958-2F1B-E36194D565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E9BBF84-CA14-D9DC-A80A-1B42E6B2AF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C0CCF9C-EC70-382B-8A89-D2DA0B135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5C1CF-0291-4A99-8996-2C79A02BBBFC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D6EA535-CB70-E89F-4506-5000F5779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A0F87F1-0174-D234-7C6D-8B7BA9583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BE38A-2556-43DC-AB7E-315403085C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340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89DB84-8672-68A2-00BF-DF5C04A0D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AA61651-BA1A-1D52-C77F-39ECDCFCB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5C1CF-0291-4A99-8996-2C79A02BBBFC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8DD2C1E-533C-7D9D-D3D4-F0FFDAAE5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C518F45-7565-D06C-5B1F-355B282B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BE38A-2556-43DC-AB7E-315403085C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194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EE07E19-2975-7B5E-95A3-D9D5E0759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5C1CF-0291-4A99-8996-2C79A02BBBFC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A536C7C-A46A-DB2E-82B8-05368667F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3056124-917E-397B-C1E3-76B1403E4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BE38A-2556-43DC-AB7E-315403085C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528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1A1960-0910-DFB4-7D6D-91F63B71B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87BFA6-9D46-78BC-C57C-DCB9C7D45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CBE6645-644A-9182-BCBD-55D0C55527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D86952D-A78A-EE12-72D7-AF3EE6278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5C1CF-0291-4A99-8996-2C79A02BBBFC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EFD1998-9D2F-11F9-099C-D2549E30F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6267582-0FF1-FC1E-F85A-0A8D063CD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BE38A-2556-43DC-AB7E-315403085C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56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C368E6-585D-CECE-03C7-AC690AA16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9B9F464-B025-D0AB-B103-CEE36B49E3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F48D64F-B11A-09D7-0EC4-371BDDB0B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B81EEC-6522-3B44-1FB2-A29F6CEDE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5C1CF-0291-4A99-8996-2C79A02BBBFC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3BF2D6-D7D2-6BB3-24A7-A16BC0FC9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6F03EBA-4988-062D-EBAF-3A1CE424E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BE38A-2556-43DC-AB7E-315403085C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78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257640-882A-7901-EF20-EE2EB48B3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FC5D477-6333-3589-FE82-8BD96E2A8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6164E6-D4FC-E479-8F76-555C155F8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5C1CF-0291-4A99-8996-2C79A02BBBFC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4A2909-CBD6-5667-7047-CE51643FB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812795-8DB5-7A31-2AF9-CB8D86E50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BE38A-2556-43DC-AB7E-315403085C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7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FAFC13E-9AD5-4832-F10C-243432DD9A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68B800F-E8ED-AC0E-E2CA-8167A24572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AE107C-D341-34A2-06B1-99D78B0B0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5C1CF-0291-4A99-8996-2C79A02BBBFC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A95E1E-ED10-69E4-229E-9075D378F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06FDBD-3D28-9223-0212-98E9B6F3F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BE38A-2556-43DC-AB7E-315403085C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788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B203B31-40BD-2DEE-932C-AF7586FFB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988068-C6B9-BE3F-9576-9A64B5176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61A516-6FB7-37B5-F3EC-73D814879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85C1CF-0291-4A99-8996-2C79A02BBBFC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6BA6AA-A9E3-8B54-9B64-8AEC8BE060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C6C207-9099-B390-FE8D-2007A403A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CBE38A-2556-43DC-AB7E-315403085C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516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92252798@N07/9439107370/" TargetMode="External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B0C0E129-6297-7316-7A28-DD88A3A5163C}"/>
              </a:ext>
            </a:extLst>
          </p:cNvPr>
          <p:cNvSpPr/>
          <p:nvPr/>
        </p:nvSpPr>
        <p:spPr>
          <a:xfrm>
            <a:off x="0" y="1290386"/>
            <a:ext cx="12192000" cy="25932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9FF404B6-5284-E66E-3E89-5F260AD9E384}"/>
              </a:ext>
            </a:extLst>
          </p:cNvPr>
          <p:cNvSpPr txBox="1">
            <a:spLocks/>
          </p:cNvSpPr>
          <p:nvPr/>
        </p:nvSpPr>
        <p:spPr>
          <a:xfrm>
            <a:off x="1789238" y="1290386"/>
            <a:ext cx="8613524" cy="24046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4000" dirty="0">
                <a:solidFill>
                  <a:schemeClr val="bg2"/>
                </a:solidFill>
                <a:latin typeface="Ancizar Serif"/>
                <a:cs typeface="Ancizar Serif"/>
              </a:rPr>
              <a:t>Modelamiento de patrones de distribución del género </a:t>
            </a:r>
            <a:r>
              <a:rPr lang="es-MX" sz="4000" i="1" dirty="0" err="1">
                <a:solidFill>
                  <a:schemeClr val="bg2"/>
                </a:solidFill>
                <a:latin typeface="Ancizar Serif"/>
                <a:cs typeface="Ancizar Serif"/>
              </a:rPr>
              <a:t>Espeletia</a:t>
            </a:r>
            <a:r>
              <a:rPr lang="es-MX" sz="4000" dirty="0">
                <a:solidFill>
                  <a:schemeClr val="bg2"/>
                </a:solidFill>
                <a:latin typeface="Ancizar Serif"/>
                <a:cs typeface="Ancizar Serif"/>
              </a:rPr>
              <a:t> en el norte de los Andes</a:t>
            </a:r>
            <a:endParaRPr lang="es-ES" sz="4000" dirty="0">
              <a:solidFill>
                <a:schemeClr val="bg2"/>
              </a:solidFill>
              <a:latin typeface="Ancizar Serif"/>
              <a:cs typeface="Ancizar Serif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EC75AFB-E83B-42D8-DFE8-3C107644E218}"/>
              </a:ext>
            </a:extLst>
          </p:cNvPr>
          <p:cNvSpPr txBox="1"/>
          <p:nvPr/>
        </p:nvSpPr>
        <p:spPr>
          <a:xfrm>
            <a:off x="4117055" y="4318984"/>
            <a:ext cx="3546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ncizar Sans"/>
                <a:cs typeface="Ancizar Sans"/>
              </a:rPr>
              <a:t>Daniel A. Rojas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03F32923-8715-55BD-910D-F7329F485867}"/>
              </a:ext>
            </a:extLst>
          </p:cNvPr>
          <p:cNvSpPr txBox="1">
            <a:spLocks/>
          </p:cNvSpPr>
          <p:nvPr/>
        </p:nvSpPr>
        <p:spPr>
          <a:xfrm>
            <a:off x="2605082" y="5014013"/>
            <a:ext cx="6550986" cy="10176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ncizar Serif"/>
                <a:cs typeface="Ancizar Serif"/>
              </a:rPr>
              <a:t>Curso: Análisis Geoespacial</a:t>
            </a:r>
          </a:p>
          <a:p>
            <a:r>
              <a:rPr lang="es-E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ncizar Serif"/>
                <a:cs typeface="Ancizar Serif"/>
              </a:rPr>
              <a:t>Universidad Nacional de Colombia – sede Medellín</a:t>
            </a:r>
          </a:p>
        </p:txBody>
      </p:sp>
    </p:spTree>
    <p:extLst>
      <p:ext uri="{BB962C8B-B14F-4D97-AF65-F5344CB8AC3E}">
        <p14:creationId xmlns:p14="http://schemas.microsoft.com/office/powerpoint/2010/main" val="305121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A1BCA-7894-56DE-C728-DF324AF59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619DA78-1BD8-3746-9081-1A470E584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1. Introducción - </a:t>
            </a:r>
            <a:r>
              <a:rPr lang="en-US" dirty="0" err="1"/>
              <a:t>Antecedentes</a:t>
            </a:r>
            <a:endParaRPr lang="en-U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B482724-56DB-86AD-BDAA-970447718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144" y="1384701"/>
            <a:ext cx="6584697" cy="225776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FAE9331-BB38-872F-FDA9-E40757D4B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144" y="3908024"/>
            <a:ext cx="6584697" cy="220209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CF0AD3B-DDBC-A129-CC18-AB500AC8F246}"/>
              </a:ext>
            </a:extLst>
          </p:cNvPr>
          <p:cNvSpPr txBox="1"/>
          <p:nvPr/>
        </p:nvSpPr>
        <p:spPr>
          <a:xfrm>
            <a:off x="5280143" y="6097888"/>
            <a:ext cx="6584697" cy="5770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50" dirty="0" err="1"/>
              <a:t>Mavárez</a:t>
            </a:r>
            <a:r>
              <a:rPr lang="en-US" sz="1050" dirty="0"/>
              <a:t>, J., </a:t>
            </a:r>
            <a:r>
              <a:rPr lang="en-US" sz="1050" dirty="0" err="1"/>
              <a:t>Bézy</a:t>
            </a:r>
            <a:r>
              <a:rPr lang="en-US" sz="1050" dirty="0"/>
              <a:t>, S., </a:t>
            </a:r>
            <a:r>
              <a:rPr lang="en-US" sz="1050" dirty="0" err="1"/>
              <a:t>Goeury</a:t>
            </a:r>
            <a:r>
              <a:rPr lang="en-US" sz="1050" dirty="0"/>
              <a:t>, T., Fernández, A., &amp; Aubert, S. (2018). Current and future distributions of </a:t>
            </a:r>
            <a:r>
              <a:rPr lang="en-US" sz="1050" dirty="0" err="1"/>
              <a:t>Espeletiinae</a:t>
            </a:r>
            <a:r>
              <a:rPr lang="en-US" sz="1050" dirty="0"/>
              <a:t> (Asteraceae) in the Venezuelan Andes based on statistical downscaling of climatic variables and niche modelling. Plant Ecology &amp; Diversity, 11(5-6), 559–572. https://doi.org/10.1080/17550874.2018.1549599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BD2C347-A80F-3B88-9E19-F63416E37D85}"/>
              </a:ext>
            </a:extLst>
          </p:cNvPr>
          <p:cNvSpPr txBox="1"/>
          <p:nvPr/>
        </p:nvSpPr>
        <p:spPr>
          <a:xfrm>
            <a:off x="523788" y="2288283"/>
            <a:ext cx="4620491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200" dirty="0" err="1"/>
              <a:t>Mavárez</a:t>
            </a:r>
            <a:r>
              <a:rPr lang="es-CO" sz="2200" dirty="0"/>
              <a:t> et al. (2018) pronostican reducciones </a:t>
            </a:r>
            <a:r>
              <a:rPr lang="es-CO" sz="2200" b="1" dirty="0"/>
              <a:t>drásticas</a:t>
            </a:r>
            <a:r>
              <a:rPr lang="es-CO" sz="2200" dirty="0"/>
              <a:t> en el área climáticamente adecuada para  el año 2070 </a:t>
            </a:r>
          </a:p>
          <a:p>
            <a:endParaRPr lang="es-CO" sz="2200" dirty="0"/>
          </a:p>
          <a:p>
            <a:r>
              <a:rPr lang="es-CO" sz="2200" dirty="0"/>
              <a:t>De </a:t>
            </a:r>
            <a:r>
              <a:rPr lang="es-CO" sz="2200" b="1" dirty="0"/>
              <a:t>~51% </a:t>
            </a:r>
            <a:r>
              <a:rPr lang="es-CO" sz="2200" dirty="0"/>
              <a:t>hasta </a:t>
            </a:r>
            <a:r>
              <a:rPr lang="es-CO" sz="2200" b="1" dirty="0"/>
              <a:t>~78% </a:t>
            </a:r>
            <a:r>
              <a:rPr lang="es-CO" sz="2200" dirty="0"/>
              <a:t>menos superficie apta en ciertos escenarios</a:t>
            </a:r>
          </a:p>
          <a:p>
            <a:endParaRPr lang="es-CO" sz="2200" dirty="0"/>
          </a:p>
          <a:p>
            <a:r>
              <a:rPr lang="es-CO" sz="2200" dirty="0"/>
              <a:t>Desplazamiento altitudinal ascendente de </a:t>
            </a:r>
            <a:r>
              <a:rPr lang="es-CO" sz="2200" b="1" dirty="0"/>
              <a:t>~280–760 m</a:t>
            </a:r>
            <a:endParaRPr lang="en-US" sz="2200" b="1" dirty="0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CF90823D-A5DC-9018-4D63-006FC58286B8}"/>
              </a:ext>
            </a:extLst>
          </p:cNvPr>
          <p:cNvSpPr txBox="1">
            <a:spLocks/>
          </p:cNvSpPr>
          <p:nvPr/>
        </p:nvSpPr>
        <p:spPr>
          <a:xfrm>
            <a:off x="523789" y="1093589"/>
            <a:ext cx="4620491" cy="11301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MX" sz="28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ncizar Serif"/>
              </a:rPr>
              <a:t>¿Qué está pasando con los páramos?</a:t>
            </a:r>
            <a:endParaRPr lang="es-ES" sz="2800" spc="3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Ancizar Serif"/>
            </a:endParaRPr>
          </a:p>
        </p:txBody>
      </p:sp>
    </p:spTree>
    <p:extLst>
      <p:ext uri="{BB962C8B-B14F-4D97-AF65-F5344CB8AC3E}">
        <p14:creationId xmlns:p14="http://schemas.microsoft.com/office/powerpoint/2010/main" val="86971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F5C8C43-4168-A9CF-5FD8-C1D26A6CA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1. Introducción - Caso de studio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4B75457-897D-1E5F-0488-B871DC514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238" y="1254098"/>
            <a:ext cx="4549564" cy="5465322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8F63797D-6473-F0E8-33D4-57D96E722DA9}"/>
              </a:ext>
            </a:extLst>
          </p:cNvPr>
          <p:cNvSpPr txBox="1">
            <a:spLocks/>
          </p:cNvSpPr>
          <p:nvPr/>
        </p:nvSpPr>
        <p:spPr>
          <a:xfrm>
            <a:off x="640542" y="1254098"/>
            <a:ext cx="6584696" cy="11301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MX" sz="24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ncizar Serif"/>
              </a:rPr>
              <a:t>¿Qué variables ambientales explican espacialmente la riqueza de </a:t>
            </a:r>
            <a:r>
              <a:rPr lang="es-MX" sz="2400" i="1" spc="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ncizar Serif"/>
              </a:rPr>
              <a:t>Espeletia</a:t>
            </a:r>
            <a:r>
              <a:rPr lang="es-MX" sz="24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ncizar Serif"/>
              </a:rPr>
              <a:t> en Colombia?</a:t>
            </a:r>
            <a:endParaRPr lang="es-ES" sz="2400" spc="3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Ancizar Serif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343CCF2-1111-2AFB-FD2E-E5891353F1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615" t="5171" r="26308" b="11554"/>
          <a:stretch/>
        </p:blipFill>
        <p:spPr>
          <a:xfrm>
            <a:off x="1519850" y="2446602"/>
            <a:ext cx="4680608" cy="348317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D89E2AA-C4A4-1308-9B72-719C28F21D63}"/>
              </a:ext>
            </a:extLst>
          </p:cNvPr>
          <p:cNvSpPr txBox="1"/>
          <p:nvPr/>
        </p:nvSpPr>
        <p:spPr>
          <a:xfrm>
            <a:off x="1519850" y="5929774"/>
            <a:ext cx="4680608" cy="4308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sz="1050" dirty="0" err="1"/>
              <a:t>Espeletia</a:t>
            </a:r>
            <a:r>
              <a:rPr lang="es-MX" sz="1050" dirty="0"/>
              <a:t> </a:t>
            </a:r>
            <a:r>
              <a:rPr lang="es-MX" sz="1050" dirty="0" err="1"/>
              <a:t>hartwegiana</a:t>
            </a:r>
            <a:r>
              <a:rPr lang="es-MX" sz="1050" dirty="0"/>
              <a:t> </a:t>
            </a:r>
            <a:r>
              <a:rPr lang="es-MX" sz="1050" dirty="0" err="1"/>
              <a:t>Cuatrec</a:t>
            </a:r>
            <a:r>
              <a:rPr lang="es-MX" sz="1050" dirty="0"/>
              <a:t>. ex Herzog. Observado en por </a:t>
            </a:r>
            <a:r>
              <a:rPr lang="es-MX" sz="1050" dirty="0" err="1"/>
              <a:t>korenbosworth</a:t>
            </a:r>
            <a:r>
              <a:rPr lang="es-MX" sz="1050" dirty="0"/>
              <a:t> (bajo una licencia http://creativecommons.org/licenses/by-nc/4.0/)</a:t>
            </a:r>
            <a:endParaRPr lang="en-US" sz="1050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37F05868-1946-8C57-D2A4-BA55D472A0AA}"/>
              </a:ext>
            </a:extLst>
          </p:cNvPr>
          <p:cNvSpPr/>
          <p:nvPr/>
        </p:nvSpPr>
        <p:spPr>
          <a:xfrm>
            <a:off x="9331036" y="5049982"/>
            <a:ext cx="2327564" cy="153746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¿Dónde están los refugios de diversidad?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8999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A607358A-E2BF-F4DB-3656-968A764CACB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805097" y="1105919"/>
            <a:ext cx="3029243" cy="5453633"/>
          </a:xfrm>
          <a:prstGeom prst="rect">
            <a:avLst/>
          </a:prstGeom>
        </p:spPr>
      </p:pic>
      <p:sp>
        <p:nvSpPr>
          <p:cNvPr id="5" name="Título 1"/>
          <p:cNvSpPr txBox="1">
            <a:spLocks/>
          </p:cNvSpPr>
          <p:nvPr/>
        </p:nvSpPr>
        <p:spPr>
          <a:xfrm>
            <a:off x="387927" y="1223016"/>
            <a:ext cx="7851007" cy="362352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400" spc="4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Puntos de ocurrencia de </a:t>
            </a:r>
            <a:r>
              <a:rPr lang="es-ES" sz="2400" i="1" spc="400" dirty="0" err="1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Espeletia</a:t>
            </a:r>
            <a:r>
              <a:rPr lang="es-ES" sz="2400" i="1" spc="4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 </a:t>
            </a:r>
            <a:r>
              <a:rPr lang="es-ES" sz="2400" spc="4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-</a:t>
            </a:r>
            <a:r>
              <a:rPr lang="es-ES" sz="2400" i="1" spc="4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 </a:t>
            </a:r>
            <a:r>
              <a:rPr lang="es-ES" sz="2400" spc="4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GBIF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A124369-4894-2A84-B872-9641E6FD63E3}"/>
              </a:ext>
            </a:extLst>
          </p:cNvPr>
          <p:cNvSpPr txBox="1"/>
          <p:nvPr/>
        </p:nvSpPr>
        <p:spPr>
          <a:xfrm>
            <a:off x="8805099" y="5894536"/>
            <a:ext cx="3029243" cy="74917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sz="1067" dirty="0"/>
              <a:t> </a:t>
            </a:r>
            <a:r>
              <a:rPr lang="es-MX" sz="1067" dirty="0" err="1"/>
              <a:t>Espeletia</a:t>
            </a:r>
            <a:r>
              <a:rPr lang="es-MX" sz="1067" dirty="0"/>
              <a:t> </a:t>
            </a:r>
            <a:r>
              <a:rPr lang="es-MX" sz="1067" dirty="0" err="1"/>
              <a:t>idroboi</a:t>
            </a:r>
            <a:r>
              <a:rPr lang="es-MX" sz="1067" dirty="0"/>
              <a:t> </a:t>
            </a:r>
            <a:r>
              <a:rPr lang="es-MX" sz="1067" dirty="0" err="1"/>
              <a:t>Cuatrec</a:t>
            </a:r>
            <a:r>
              <a:rPr lang="es-MX" sz="1067" dirty="0"/>
              <a:t>. Observado en por Emerson </a:t>
            </a:r>
            <a:r>
              <a:rPr lang="es-MX" sz="1067" dirty="0" err="1"/>
              <a:t>Chezar</a:t>
            </a:r>
            <a:r>
              <a:rPr lang="es-MX" sz="1067" dirty="0"/>
              <a:t> (bajo una licencia http://creativecommons.org/licenses/by-nc/4.0/)</a:t>
            </a:r>
            <a:endParaRPr lang="en-US" sz="1067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A52AD3AD-5E6B-FF0C-3CD0-CA2CB639D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86" y="1794081"/>
            <a:ext cx="4335777" cy="4280895"/>
          </a:xfrm>
          <a:prstGeom prst="rect">
            <a:avLst/>
          </a:prstGeom>
        </p:spPr>
      </p:pic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44CE04FC-53B2-F972-58C7-7C185C33517C}"/>
              </a:ext>
            </a:extLst>
          </p:cNvPr>
          <p:cNvSpPr/>
          <p:nvPr/>
        </p:nvSpPr>
        <p:spPr>
          <a:xfrm>
            <a:off x="5154785" y="2629489"/>
            <a:ext cx="3280768" cy="684627"/>
          </a:xfrm>
          <a:prstGeom prst="roundRect">
            <a:avLst/>
          </a:prstGeom>
          <a:solidFill>
            <a:schemeClr val="accent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dirty="0"/>
              <a:t>Datos sin coordenadas</a:t>
            </a:r>
            <a:endParaRPr lang="en-US" sz="2400" dirty="0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A11E74B3-EE92-2779-2899-46B93AE78C7E}"/>
              </a:ext>
            </a:extLst>
          </p:cNvPr>
          <p:cNvSpPr/>
          <p:nvPr/>
        </p:nvSpPr>
        <p:spPr>
          <a:xfrm>
            <a:off x="5154785" y="3609781"/>
            <a:ext cx="3280768" cy="684627"/>
          </a:xfrm>
          <a:prstGeom prst="roundRect">
            <a:avLst/>
          </a:prstGeom>
          <a:solidFill>
            <a:schemeClr val="accent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dirty="0"/>
              <a:t>Elevación &gt; 2800 msnm</a:t>
            </a:r>
            <a:endParaRPr lang="en-US" sz="2400" dirty="0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E75A3940-74D6-A512-760C-A39D0864DAE5}"/>
              </a:ext>
            </a:extLst>
          </p:cNvPr>
          <p:cNvSpPr/>
          <p:nvPr/>
        </p:nvSpPr>
        <p:spPr>
          <a:xfrm>
            <a:off x="5154785" y="4669547"/>
            <a:ext cx="3280768" cy="684627"/>
          </a:xfrm>
          <a:prstGeom prst="roundRect">
            <a:avLst/>
          </a:prstGeom>
          <a:solidFill>
            <a:schemeClr val="accent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dirty="0"/>
              <a:t>Longitud &lt; 60°W </a:t>
            </a:r>
            <a:endParaRPr lang="en-US" sz="24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CA0CC9D-9836-60F2-0B3A-97A088EFE587}"/>
              </a:ext>
            </a:extLst>
          </p:cNvPr>
          <p:cNvSpPr txBox="1"/>
          <p:nvPr/>
        </p:nvSpPr>
        <p:spPr>
          <a:xfrm>
            <a:off x="5154785" y="1916724"/>
            <a:ext cx="32807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200" dirty="0"/>
              <a:t>Filtros</a:t>
            </a:r>
            <a:endParaRPr lang="en-US" sz="3200" dirty="0"/>
          </a:p>
        </p:txBody>
      </p:sp>
      <p:sp>
        <p:nvSpPr>
          <p:cNvPr id="6" name="Título 2">
            <a:extLst>
              <a:ext uri="{FF2B5EF4-FFF2-40B4-BE49-F238E27FC236}">
                <a16:creationId xmlns:a16="http://schemas.microsoft.com/office/drawing/2014/main" id="{BA6AD557-4859-2892-358D-F2146DF5B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927" y="270550"/>
            <a:ext cx="12192000" cy="758503"/>
          </a:xfrm>
        </p:spPr>
        <p:txBody>
          <a:bodyPr>
            <a:normAutofit/>
          </a:bodyPr>
          <a:lstStyle/>
          <a:p>
            <a:r>
              <a:rPr lang="en-US" dirty="0"/>
              <a:t>2. </a:t>
            </a:r>
            <a:r>
              <a:rPr lang="en-US" dirty="0" err="1"/>
              <a:t>Metodología</a:t>
            </a:r>
            <a:r>
              <a:rPr lang="en-US" dirty="0"/>
              <a:t> – Base de </a:t>
            </a:r>
            <a:r>
              <a:rPr lang="en-US" dirty="0" err="1"/>
              <a:t>datos</a:t>
            </a:r>
            <a:endParaRPr lang="en-US" dirty="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8D010B28-103D-5FA7-3435-073E83E444EC}"/>
              </a:ext>
            </a:extLst>
          </p:cNvPr>
          <p:cNvGrpSpPr/>
          <p:nvPr/>
        </p:nvGrpSpPr>
        <p:grpSpPr>
          <a:xfrm>
            <a:off x="5746174" y="5634984"/>
            <a:ext cx="2071358" cy="952466"/>
            <a:chOff x="1311243" y="2209740"/>
            <a:chExt cx="1325844" cy="736580"/>
          </a:xfrm>
          <a:solidFill>
            <a:srgbClr val="40C47C"/>
          </a:solidFill>
        </p:grpSpPr>
        <p:sp>
          <p:nvSpPr>
            <p:cNvPr id="3" name="Rectángulo: esquinas redondeadas 2">
              <a:extLst>
                <a:ext uri="{FF2B5EF4-FFF2-40B4-BE49-F238E27FC236}">
                  <a16:creationId xmlns:a16="http://schemas.microsoft.com/office/drawing/2014/main" id="{81F37013-82EE-E985-FF34-57905B8C19F3}"/>
                </a:ext>
              </a:extLst>
            </p:cNvPr>
            <p:cNvSpPr/>
            <p:nvPr/>
          </p:nvSpPr>
          <p:spPr>
            <a:xfrm>
              <a:off x="1311243" y="2209740"/>
              <a:ext cx="1325844" cy="736580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" name="Rectángulo: esquinas redondeadas 4">
              <a:extLst>
                <a:ext uri="{FF2B5EF4-FFF2-40B4-BE49-F238E27FC236}">
                  <a16:creationId xmlns:a16="http://schemas.microsoft.com/office/drawing/2014/main" id="{AD2B62CE-1A57-0AF0-101A-F356AADA59F5}"/>
                </a:ext>
              </a:extLst>
            </p:cNvPr>
            <p:cNvSpPr txBox="1"/>
            <p:nvPr/>
          </p:nvSpPr>
          <p:spPr>
            <a:xfrm>
              <a:off x="1332817" y="2231314"/>
              <a:ext cx="1282696" cy="693432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kern="1200" dirty="0"/>
                <a:t>20309 </a:t>
              </a:r>
              <a:r>
                <a:rPr lang="en-US" sz="2800" kern="1200" dirty="0" err="1"/>
                <a:t>ptos</a:t>
              </a:r>
              <a:endParaRPr lang="en-US" sz="28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09322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FAADE42-E397-ACA2-A0B6-B02F2D203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2. </a:t>
            </a:r>
            <a:r>
              <a:rPr lang="en-US" dirty="0" err="1"/>
              <a:t>Metodología</a:t>
            </a:r>
            <a:r>
              <a:rPr lang="en-US" dirty="0"/>
              <a:t> – Variables </a:t>
            </a:r>
            <a:r>
              <a:rPr lang="en-US" dirty="0" err="1"/>
              <a:t>Climáticas</a:t>
            </a:r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90C49B3-A952-DBA2-83E4-8DE206DF0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26" y="2649697"/>
            <a:ext cx="6563479" cy="33755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851F5C2-8132-1058-0ADC-57F293B70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209" y="1099112"/>
            <a:ext cx="4684314" cy="5488338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14E8BC0F-49A4-FF1E-B141-D4D065A07693}"/>
              </a:ext>
            </a:extLst>
          </p:cNvPr>
          <p:cNvSpPr txBox="1">
            <a:spLocks/>
          </p:cNvSpPr>
          <p:nvPr/>
        </p:nvSpPr>
        <p:spPr>
          <a:xfrm>
            <a:off x="387926" y="1558251"/>
            <a:ext cx="6913283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20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ncizar Serif"/>
              </a:rPr>
              <a:t>Superposición con variables</a:t>
            </a:r>
          </a:p>
          <a:p>
            <a:pPr algn="l"/>
            <a:r>
              <a:rPr lang="es-CO" sz="2000" spc="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ncizar Serif"/>
              </a:rPr>
              <a:t>Bioclimaticas</a:t>
            </a:r>
            <a:r>
              <a:rPr lang="es-CO" sz="20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ncizar Serif"/>
              </a:rPr>
              <a:t> – </a:t>
            </a:r>
            <a:r>
              <a:rPr lang="es-CO" sz="2000" spc="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ncizar Serif"/>
              </a:rPr>
              <a:t>WorldClim</a:t>
            </a:r>
            <a:r>
              <a:rPr lang="es-CO" sz="20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ncizar Serif"/>
              </a:rPr>
              <a:t> (</a:t>
            </a:r>
            <a:r>
              <a:rPr lang="es-CO" sz="2000" spc="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ncizar Serif"/>
              </a:rPr>
              <a:t>Prom</a:t>
            </a:r>
            <a:r>
              <a:rPr lang="es-CO" sz="20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ncizar Serif"/>
              </a:rPr>
              <a:t> 1970 – 2000)</a:t>
            </a:r>
            <a:endParaRPr lang="es-ES" sz="2000" spc="3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Ancizar Serif"/>
            </a:endParaRPr>
          </a:p>
        </p:txBody>
      </p:sp>
    </p:spTree>
    <p:extLst>
      <p:ext uri="{BB962C8B-B14F-4D97-AF65-F5344CB8AC3E}">
        <p14:creationId xmlns:p14="http://schemas.microsoft.com/office/powerpoint/2010/main" val="1589678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9E4B01C-3B1D-1C15-624E-B2A422E67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3. Resultados- Análisis de patrón de puntos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780EA51-4A99-5F97-3247-EE1BB03A1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27" y="1241630"/>
            <a:ext cx="8467725" cy="27622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4C84659-F917-72B4-7817-EF06FB537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626" y="4003880"/>
            <a:ext cx="8467725" cy="276225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247A5A86-EF15-F7BD-25AB-9376EDF13DE2}"/>
              </a:ext>
            </a:extLst>
          </p:cNvPr>
          <p:cNvSpPr txBox="1"/>
          <p:nvPr/>
        </p:nvSpPr>
        <p:spPr>
          <a:xfrm>
            <a:off x="9134168" y="2222090"/>
            <a:ext cx="25556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/>
              <a:t>No aleatorio</a:t>
            </a:r>
          </a:p>
          <a:p>
            <a:endParaRPr lang="es-CO" sz="2400" dirty="0"/>
          </a:p>
          <a:p>
            <a:r>
              <a:rPr lang="es-CO" sz="2400" dirty="0"/>
              <a:t>Estructura en parches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67112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7CEA7-8CEA-6FCD-B5F5-14F2A7314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425CA39-DA0D-C86B-2A7C-ACEF355C4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2819" y="1183068"/>
            <a:ext cx="4614728" cy="5471911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7FD6E74-8848-E93C-BB8B-1A3EFD3B581D}"/>
              </a:ext>
            </a:extLst>
          </p:cNvPr>
          <p:cNvSpPr txBox="1"/>
          <p:nvPr/>
        </p:nvSpPr>
        <p:spPr>
          <a:xfrm>
            <a:off x="775854" y="2016991"/>
            <a:ext cx="570807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Se observan 3 grandes núcleos:</a:t>
            </a:r>
          </a:p>
          <a:p>
            <a:endParaRPr lang="es-CO" sz="2400" dirty="0">
              <a:solidFill>
                <a:schemeClr val="tx1">
                  <a:lumMod val="90000"/>
                  <a:lumOff val="10000"/>
                </a:schemeClr>
              </a:solidFill>
            </a:endParaRPr>
          </a:p>
          <a:p>
            <a:pPr marL="457189" indent="-457189">
              <a:buFont typeface="+mj-lt"/>
              <a:buAutoNum type="arabicPeriod"/>
            </a:pPr>
            <a:r>
              <a:rPr lang="es-MX" sz="24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Al norte del Macizo Colombiano y Nariño</a:t>
            </a:r>
            <a:endParaRPr lang="es-CO" sz="2400" dirty="0">
              <a:solidFill>
                <a:schemeClr val="tx1">
                  <a:lumMod val="90000"/>
                  <a:lumOff val="10000"/>
                </a:schemeClr>
              </a:solidFill>
            </a:endParaRPr>
          </a:p>
          <a:p>
            <a:pPr marL="457189" indent="-457189">
              <a:buFont typeface="+mj-lt"/>
              <a:buAutoNum type="arabicPeriod"/>
            </a:pPr>
            <a:r>
              <a:rPr lang="es-MX" sz="24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En la Cordillera Oriental (zona de Bogotá, Sumapaz, páramos cercanos)</a:t>
            </a:r>
          </a:p>
          <a:p>
            <a:pPr marL="457189" indent="-457189">
              <a:buFont typeface="+mj-lt"/>
              <a:buAutoNum type="arabicPeriod"/>
            </a:pPr>
            <a:r>
              <a:rPr lang="es-MX" sz="24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En la Cordillera Oriental (Santanderes y Boyacá)</a:t>
            </a:r>
            <a:endParaRPr lang="en-US" sz="2400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8" name="Título 2">
            <a:extLst>
              <a:ext uri="{FF2B5EF4-FFF2-40B4-BE49-F238E27FC236}">
                <a16:creationId xmlns:a16="http://schemas.microsoft.com/office/drawing/2014/main" id="{3108345C-4241-2BF5-9022-C0DA968D6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927" y="270550"/>
            <a:ext cx="12192000" cy="758503"/>
          </a:xfrm>
        </p:spPr>
        <p:txBody>
          <a:bodyPr/>
          <a:lstStyle/>
          <a:p>
            <a:r>
              <a:rPr lang="es-CO" dirty="0"/>
              <a:t>3. Resultados- Análisis de patrón de puntos</a:t>
            </a:r>
            <a:endParaRPr lang="en-U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2484AA7-9DC5-612C-CD1E-15A53F9022DC}"/>
              </a:ext>
            </a:extLst>
          </p:cNvPr>
          <p:cNvSpPr txBox="1"/>
          <p:nvPr/>
        </p:nvSpPr>
        <p:spPr>
          <a:xfrm>
            <a:off x="8094518" y="5490266"/>
            <a:ext cx="405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1</a:t>
            </a:r>
            <a:endParaRPr lang="en-US" sz="2000" b="1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C151F03-7E9B-8127-0AD3-89B556E8FFBB}"/>
              </a:ext>
            </a:extLst>
          </p:cNvPr>
          <p:cNvSpPr txBox="1"/>
          <p:nvPr/>
        </p:nvSpPr>
        <p:spPr>
          <a:xfrm>
            <a:off x="9684617" y="4135583"/>
            <a:ext cx="405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2</a:t>
            </a:r>
            <a:endParaRPr lang="en-US" sz="2000" b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6E2FBAE-4099-FB76-2FCF-434CC920B4B4}"/>
              </a:ext>
            </a:extLst>
          </p:cNvPr>
          <p:cNvSpPr txBox="1"/>
          <p:nvPr/>
        </p:nvSpPr>
        <p:spPr>
          <a:xfrm>
            <a:off x="11010901" y="2483428"/>
            <a:ext cx="405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3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761695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154C398-FE6A-3950-A302-2EF5765D0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3. </a:t>
            </a:r>
            <a:r>
              <a:rPr lang="en-US" dirty="0" err="1"/>
              <a:t>Resultados</a:t>
            </a:r>
            <a:r>
              <a:rPr lang="en-US" dirty="0"/>
              <a:t> – </a:t>
            </a:r>
            <a:r>
              <a:rPr lang="en-US" dirty="0" err="1"/>
              <a:t>Evaluación</a:t>
            </a:r>
            <a:r>
              <a:rPr lang="en-US" dirty="0"/>
              <a:t> de variables </a:t>
            </a:r>
            <a:r>
              <a:rPr lang="en-US" dirty="0" err="1"/>
              <a:t>independientes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E20D481-505F-6870-B700-D654BAEAB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016" y="1455615"/>
            <a:ext cx="5417513" cy="209630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7AE0BA0-D8BB-1572-67E1-59E51DB9D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16" y="3728314"/>
            <a:ext cx="5147634" cy="255433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F5853D00-E05A-1668-31CC-2CCBFC636D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1979" y="1455615"/>
            <a:ext cx="5921695" cy="5131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539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8F44221-2EA8-4AB5-10FC-C4BC81DE5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927" y="270550"/>
            <a:ext cx="12192000" cy="758503"/>
          </a:xfrm>
        </p:spPr>
        <p:txBody>
          <a:bodyPr/>
          <a:lstStyle/>
          <a:p>
            <a:r>
              <a:rPr lang="es-CO" dirty="0"/>
              <a:t>3. Resultados – Anterior entrega</a:t>
            </a:r>
            <a:endParaRPr lang="en-U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7250944-8C5F-E68C-C276-5225B68DF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780" y="2144828"/>
            <a:ext cx="3714638" cy="4627733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16318BA-4479-A658-6B86-66E5CAFC272C}"/>
              </a:ext>
            </a:extLst>
          </p:cNvPr>
          <p:cNvSpPr txBox="1"/>
          <p:nvPr/>
        </p:nvSpPr>
        <p:spPr>
          <a:xfrm>
            <a:off x="387927" y="1504336"/>
            <a:ext cx="57080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/>
              <a:t>Zonificación hidrográfica IDEAM 2022</a:t>
            </a:r>
            <a:endParaRPr lang="en-US" sz="24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2DEC8CFC-1A61-B82D-7F8E-4422888F3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7988" y="1163327"/>
            <a:ext cx="3794476" cy="5322842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308784C8-3AC3-394F-AB29-D5EF8725CB88}"/>
              </a:ext>
            </a:extLst>
          </p:cNvPr>
          <p:cNvSpPr txBox="1"/>
          <p:nvPr/>
        </p:nvSpPr>
        <p:spPr>
          <a:xfrm>
            <a:off x="387927" y="2676008"/>
            <a:ext cx="319185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/>
              <a:t>Conteo de especies por polígono</a:t>
            </a:r>
          </a:p>
          <a:p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/>
              <a:t>Polígonos muy grandes</a:t>
            </a:r>
          </a:p>
          <a:p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/>
              <a:t>Menor resolución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73953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D3741F6A-817F-8D23-5561-66FB22493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4171" y="1130300"/>
            <a:ext cx="3267002" cy="5634946"/>
          </a:xfrm>
          <a:prstGeom prst="rect">
            <a:avLst/>
          </a:prstGeom>
        </p:spPr>
      </p:pic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079C065D-6C17-F316-7DEA-7A7EED647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57854" y="2152315"/>
            <a:ext cx="2113610" cy="7155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CO" sz="2400" dirty="0"/>
              <a:t>293 polígonos con puntos</a:t>
            </a:r>
            <a:endParaRPr lang="en-US" sz="2400" dirty="0"/>
          </a:p>
        </p:txBody>
      </p:sp>
      <p:sp>
        <p:nvSpPr>
          <p:cNvPr id="6" name="Título 2">
            <a:extLst>
              <a:ext uri="{FF2B5EF4-FFF2-40B4-BE49-F238E27FC236}">
                <a16:creationId xmlns:a16="http://schemas.microsoft.com/office/drawing/2014/main" id="{F46F0C67-8F57-BE81-5761-DE32F1900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927" y="270550"/>
            <a:ext cx="12192000" cy="758503"/>
          </a:xfrm>
        </p:spPr>
        <p:txBody>
          <a:bodyPr/>
          <a:lstStyle/>
          <a:p>
            <a:r>
              <a:rPr lang="es-CO" dirty="0"/>
              <a:t>3. Resultados – Delimitación de cuencas</a:t>
            </a:r>
            <a:endParaRPr lang="en-US" dirty="0"/>
          </a:p>
        </p:txBody>
      </p:sp>
      <p:pic>
        <p:nvPicPr>
          <p:cNvPr id="1026" name="Picture 2" descr="Global map of major river basins (outlined in black) and sub-basins (blue).">
            <a:extLst>
              <a:ext uri="{FF2B5EF4-FFF2-40B4-BE49-F238E27FC236}">
                <a16:creationId xmlns:a16="http://schemas.microsoft.com/office/drawing/2014/main" id="{30D164A8-0444-4109-2261-41A52D413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991" y="2355325"/>
            <a:ext cx="6210589" cy="3830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2A1DC3E-615C-3BF7-1F0E-7DBA5438A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1992" y="2355325"/>
            <a:ext cx="6210588" cy="3830085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EACCEDFC-FD1A-7CDE-16DE-6145E7E583AB}"/>
              </a:ext>
            </a:extLst>
          </p:cNvPr>
          <p:cNvSpPr txBox="1">
            <a:spLocks/>
          </p:cNvSpPr>
          <p:nvPr/>
        </p:nvSpPr>
        <p:spPr>
          <a:xfrm>
            <a:off x="705482" y="1127110"/>
            <a:ext cx="6584696" cy="11301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MX" sz="24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ncizar Serif"/>
              </a:rPr>
              <a:t>Mejor resolución de cuencas HydroBasins nivel 10</a:t>
            </a:r>
            <a:endParaRPr lang="es-ES" sz="2400" spc="3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Ancizar Serif"/>
            </a:endParaRPr>
          </a:p>
        </p:txBody>
      </p:sp>
    </p:spTree>
    <p:extLst>
      <p:ext uri="{BB962C8B-B14F-4D97-AF65-F5344CB8AC3E}">
        <p14:creationId xmlns:p14="http://schemas.microsoft.com/office/powerpoint/2010/main" val="1163149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A7DBA-24AD-A9E3-3EBD-61EFBFF45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EEC8E1AE-60A5-EF12-E5AB-86E85F14FF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863"/>
          <a:stretch>
            <a:fillRect/>
          </a:stretch>
        </p:blipFill>
        <p:spPr>
          <a:xfrm>
            <a:off x="737754" y="1424719"/>
            <a:ext cx="10615993" cy="4820217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0540D65-D61B-A620-7087-A85EA328CFB7}"/>
              </a:ext>
            </a:extLst>
          </p:cNvPr>
          <p:cNvSpPr txBox="1"/>
          <p:nvPr/>
        </p:nvSpPr>
        <p:spPr>
          <a:xfrm>
            <a:off x="3781134" y="2037847"/>
            <a:ext cx="1965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Índice = 0.44</a:t>
            </a:r>
            <a:endParaRPr lang="en-US" sz="2000" b="1" dirty="0"/>
          </a:p>
        </p:txBody>
      </p:sp>
      <p:sp>
        <p:nvSpPr>
          <p:cNvPr id="8" name="Título 2">
            <a:extLst>
              <a:ext uri="{FF2B5EF4-FFF2-40B4-BE49-F238E27FC236}">
                <a16:creationId xmlns:a16="http://schemas.microsoft.com/office/drawing/2014/main" id="{D04E64D2-186A-223E-FB1C-DFFB6DFD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927" y="270550"/>
            <a:ext cx="12192000" cy="758503"/>
          </a:xfrm>
        </p:spPr>
        <p:txBody>
          <a:bodyPr/>
          <a:lstStyle/>
          <a:p>
            <a:r>
              <a:rPr lang="es-CO" dirty="0"/>
              <a:t>3. Resultados – Dependencia espacial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800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D0C6159A-B881-2821-959C-E8137CA7F7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1295500"/>
              </p:ext>
            </p:extLst>
          </p:nvPr>
        </p:nvGraphicFramePr>
        <p:xfrm>
          <a:off x="2340078" y="1210458"/>
          <a:ext cx="8139624" cy="514824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2366745">
                  <a:extLst>
                    <a:ext uri="{9D8B030D-6E8A-4147-A177-3AD203B41FA5}">
                      <a16:colId xmlns:a16="http://schemas.microsoft.com/office/drawing/2014/main" val="834782940"/>
                    </a:ext>
                  </a:extLst>
                </a:gridCol>
                <a:gridCol w="1257559">
                  <a:extLst>
                    <a:ext uri="{9D8B030D-6E8A-4147-A177-3AD203B41FA5}">
                      <a16:colId xmlns:a16="http://schemas.microsoft.com/office/drawing/2014/main" val="2822643770"/>
                    </a:ext>
                  </a:extLst>
                </a:gridCol>
                <a:gridCol w="2452031">
                  <a:extLst>
                    <a:ext uri="{9D8B030D-6E8A-4147-A177-3AD203B41FA5}">
                      <a16:colId xmlns:a16="http://schemas.microsoft.com/office/drawing/2014/main" val="1001828043"/>
                    </a:ext>
                  </a:extLst>
                </a:gridCol>
                <a:gridCol w="2063289">
                  <a:extLst>
                    <a:ext uri="{9D8B030D-6E8A-4147-A177-3AD203B41FA5}">
                      <a16:colId xmlns:a16="http://schemas.microsoft.com/office/drawing/2014/main" val="460678382"/>
                    </a:ext>
                  </a:extLst>
                </a:gridCol>
              </a:tblGrid>
              <a:tr h="88485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Modelo</a:t>
                      </a:r>
                      <a:endParaRPr lang="en-US" sz="1600" dirty="0"/>
                    </a:p>
                  </a:txBody>
                  <a:tcPr marL="65929" marR="65929" marT="32965" marB="3296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R² / Pseudo R²</a:t>
                      </a:r>
                      <a:endParaRPr lang="en-US" sz="1600" dirty="0"/>
                    </a:p>
                  </a:txBody>
                  <a:tcPr marL="65929" marR="65929" marT="32965" marB="3296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Variables </a:t>
                      </a:r>
                      <a:r>
                        <a:rPr lang="en-US" sz="1600" b="1" dirty="0" err="1"/>
                        <a:t>significativas</a:t>
                      </a:r>
                      <a:r>
                        <a:rPr lang="en-US" sz="1600" b="1" dirty="0"/>
                        <a:t> (p &lt; 0.05)</a:t>
                      </a:r>
                      <a:endParaRPr lang="en-US" sz="1600" dirty="0"/>
                    </a:p>
                  </a:txBody>
                  <a:tcPr marL="65929" marR="65929" marT="32965" marB="3296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Autocorrelación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espacial</a:t>
                      </a:r>
                      <a:r>
                        <a:rPr lang="en-US" sz="1600" b="1" dirty="0"/>
                        <a:t> (lambda)</a:t>
                      </a:r>
                      <a:endParaRPr lang="en-US" sz="1600" dirty="0"/>
                    </a:p>
                  </a:txBody>
                  <a:tcPr marL="65929" marR="65929" marT="32965" marB="3296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316358"/>
                  </a:ext>
                </a:extLst>
              </a:tr>
              <a:tr h="638059">
                <a:tc>
                  <a:txBody>
                    <a:bodyPr/>
                    <a:lstStyle/>
                    <a:p>
                      <a:r>
                        <a:rPr lang="en-US" sz="1400" b="1" dirty="0"/>
                        <a:t>1. OLS </a:t>
                      </a:r>
                      <a:r>
                        <a:rPr lang="en-US" sz="1400" b="1" dirty="0" err="1"/>
                        <a:t>clásico</a:t>
                      </a:r>
                      <a:endParaRPr lang="en-US" sz="140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0.3257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bio3_mean, bio4_mean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698176643"/>
                  </a:ext>
                </a:extLst>
              </a:tr>
              <a:tr h="747199">
                <a:tc>
                  <a:txBody>
                    <a:bodyPr/>
                    <a:lstStyle/>
                    <a:p>
                      <a:r>
                        <a:rPr lang="en-US" sz="1400" b="1" dirty="0"/>
                        <a:t>2. SAR </a:t>
                      </a:r>
                      <a:r>
                        <a:rPr lang="en-US" sz="1400" b="1" dirty="0" err="1"/>
                        <a:t>exógeno</a:t>
                      </a:r>
                      <a:endParaRPr lang="en-US" sz="140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0.3733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W_bio3_mean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528400343"/>
                  </a:ext>
                </a:extLst>
              </a:tr>
              <a:tr h="714877">
                <a:tc>
                  <a:txBody>
                    <a:bodyPr/>
                    <a:lstStyle/>
                    <a:p>
                      <a:r>
                        <a:rPr lang="en-US" sz="1400" b="1" dirty="0"/>
                        <a:t>3. Variable </a:t>
                      </a:r>
                      <a:r>
                        <a:rPr lang="en-US" sz="1400" b="1" dirty="0" err="1"/>
                        <a:t>dependente</a:t>
                      </a:r>
                      <a:r>
                        <a:rPr lang="en-US" sz="1400" b="1" dirty="0"/>
                        <a:t> </a:t>
                      </a:r>
                      <a:r>
                        <a:rPr lang="en-US" sz="1400" b="1" dirty="0" err="1"/>
                        <a:t>rezagada</a:t>
                      </a:r>
                      <a:r>
                        <a:rPr lang="en-US" sz="1400" b="1" dirty="0"/>
                        <a:t> (Spatial lag)</a:t>
                      </a:r>
                      <a:endParaRPr lang="en-US" sz="140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0.3827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Bio3_mean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err="1"/>
                        <a:t>Sí</a:t>
                      </a:r>
                      <a:r>
                        <a:rPr lang="en-US" sz="1400" dirty="0"/>
                        <a:t> (lambda = 0.0706)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2087166097"/>
                  </a:ext>
                </a:extLst>
              </a:tr>
              <a:tr h="966492">
                <a:tc>
                  <a:txBody>
                    <a:bodyPr/>
                    <a:lstStyle/>
                    <a:p>
                      <a:r>
                        <a:rPr lang="en-US" sz="1400" b="1" dirty="0"/>
                        <a:t>4. Error </a:t>
                      </a:r>
                      <a:r>
                        <a:rPr lang="en-US" sz="1400" b="1" dirty="0" err="1"/>
                        <a:t>rezagado</a:t>
                      </a:r>
                      <a:endParaRPr lang="en-US" sz="140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0.3227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bio3_mean, bio4_mean, lambda (p = 0.034)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Sí</a:t>
                      </a:r>
                      <a:r>
                        <a:rPr lang="en-US" sz="1400" dirty="0"/>
                        <a:t> (lambda = 0.0487)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2612780495"/>
                  </a:ext>
                </a:extLst>
              </a:tr>
              <a:tr h="1196762">
                <a:tc>
                  <a:txBody>
                    <a:bodyPr/>
                    <a:lstStyle/>
                    <a:p>
                      <a:r>
                        <a:rPr lang="es-MX" sz="1400" b="1" dirty="0"/>
                        <a:t>5. OLS con Regímenes (Intercepto + coeficientes)</a:t>
                      </a:r>
                      <a:endParaRPr lang="es-MX" sz="140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0.4209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bio3_mean, bio4_mean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336792393"/>
                  </a:ext>
                </a:extLst>
              </a:tr>
            </a:tbl>
          </a:graphicData>
        </a:graphic>
      </p:graphicFrame>
      <p:sp>
        <p:nvSpPr>
          <p:cNvPr id="6" name="Título 2">
            <a:extLst>
              <a:ext uri="{FF2B5EF4-FFF2-40B4-BE49-F238E27FC236}">
                <a16:creationId xmlns:a16="http://schemas.microsoft.com/office/drawing/2014/main" id="{ABEA2927-CCFD-C436-DF9B-C667CFFE8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927" y="270550"/>
            <a:ext cx="12192000" cy="758503"/>
          </a:xfrm>
        </p:spPr>
        <p:txBody>
          <a:bodyPr/>
          <a:lstStyle/>
          <a:p>
            <a:r>
              <a:rPr lang="es-CO" dirty="0"/>
              <a:t>3. Resultados – Modelos entrega anterior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568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DA6FD67-03AD-CFD1-672B-BB878801B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754" y="1810857"/>
            <a:ext cx="5459204" cy="386257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159F031-23AE-F18F-CDD1-825997463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042" y="1630628"/>
            <a:ext cx="5751969" cy="4295774"/>
          </a:xfrm>
          <a:prstGeom prst="rect">
            <a:avLst/>
          </a:prstGeom>
        </p:spPr>
      </p:pic>
      <p:sp>
        <p:nvSpPr>
          <p:cNvPr id="8" name="Título 2">
            <a:extLst>
              <a:ext uri="{FF2B5EF4-FFF2-40B4-BE49-F238E27FC236}">
                <a16:creationId xmlns:a16="http://schemas.microsoft.com/office/drawing/2014/main" id="{418CC981-0F26-B865-34F0-78A47BC5B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927" y="270550"/>
            <a:ext cx="12192000" cy="758503"/>
          </a:xfrm>
        </p:spPr>
        <p:txBody>
          <a:bodyPr/>
          <a:lstStyle/>
          <a:p>
            <a:r>
              <a:rPr lang="es-CO" dirty="0"/>
              <a:t>3. Resultados – Modelo Poisson con offset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412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AAE14FE5-B283-A682-7EC1-CAAE4019D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879" y="1122372"/>
            <a:ext cx="4174930" cy="549625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D6B5AF4-7BB4-CD1A-5BE9-CDB05D56B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053" y="1154283"/>
            <a:ext cx="3792075" cy="5496251"/>
          </a:xfrm>
          <a:prstGeom prst="rect">
            <a:avLst/>
          </a:prstGeom>
        </p:spPr>
      </p:pic>
      <p:sp>
        <p:nvSpPr>
          <p:cNvPr id="12" name="Título 2">
            <a:extLst>
              <a:ext uri="{FF2B5EF4-FFF2-40B4-BE49-F238E27FC236}">
                <a16:creationId xmlns:a16="http://schemas.microsoft.com/office/drawing/2014/main" id="{A421A8D2-A877-934D-CD75-F105B225D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927" y="270550"/>
            <a:ext cx="12192000" cy="758503"/>
          </a:xfrm>
        </p:spPr>
        <p:txBody>
          <a:bodyPr/>
          <a:lstStyle/>
          <a:p>
            <a:r>
              <a:rPr lang="es-CO" dirty="0"/>
              <a:t>3. Resultados – Modelo Poisson con offset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279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7C7F05B6-59D7-75D4-AB6D-B22191E49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81" y="2519274"/>
            <a:ext cx="6836785" cy="4078567"/>
          </a:xfrm>
          <a:prstGeom prst="rect">
            <a:avLst/>
          </a:prstGeom>
        </p:spPr>
      </p:pic>
      <p:sp>
        <p:nvSpPr>
          <p:cNvPr id="12" name="Título 2">
            <a:extLst>
              <a:ext uri="{FF2B5EF4-FFF2-40B4-BE49-F238E27FC236}">
                <a16:creationId xmlns:a16="http://schemas.microsoft.com/office/drawing/2014/main" id="{697A8A0B-8669-5A3F-9E74-2EBE35391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927" y="270550"/>
            <a:ext cx="12192000" cy="758503"/>
          </a:xfrm>
        </p:spPr>
        <p:txBody>
          <a:bodyPr/>
          <a:lstStyle/>
          <a:p>
            <a:r>
              <a:rPr lang="es-CO" dirty="0"/>
              <a:t>3. Resultados – Modelo GWR</a:t>
            </a:r>
            <a:endParaRPr lang="en-U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294B40A-453C-36A2-D1C2-7C192E4CD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423" y="1153390"/>
            <a:ext cx="3241999" cy="559030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BE34F7C-D458-8C68-5C85-D8A86DC7AE37}"/>
              </a:ext>
            </a:extLst>
          </p:cNvPr>
          <p:cNvSpPr txBox="1"/>
          <p:nvPr/>
        </p:nvSpPr>
        <p:spPr>
          <a:xfrm>
            <a:off x="948578" y="1433944"/>
            <a:ext cx="63795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/>
              <a:t>Centroides de las cuencas como coordenadas para el modelo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746230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5D15F98-B8A1-B5F4-2954-2597F0E96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874" y="1194955"/>
            <a:ext cx="5608791" cy="5392495"/>
          </a:xfrm>
          <a:prstGeom prst="rect">
            <a:avLst/>
          </a:prstGeom>
        </p:spPr>
      </p:pic>
      <p:sp>
        <p:nvSpPr>
          <p:cNvPr id="6" name="Título 2">
            <a:extLst>
              <a:ext uri="{FF2B5EF4-FFF2-40B4-BE49-F238E27FC236}">
                <a16:creationId xmlns:a16="http://schemas.microsoft.com/office/drawing/2014/main" id="{C3F82C18-784F-28F7-D27F-A4EC91561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927" y="270550"/>
            <a:ext cx="12192000" cy="758503"/>
          </a:xfrm>
        </p:spPr>
        <p:txBody>
          <a:bodyPr/>
          <a:lstStyle/>
          <a:p>
            <a:r>
              <a:rPr lang="es-CO" dirty="0"/>
              <a:t>3. Resultados – Modelo GWR</a:t>
            </a:r>
            <a:endParaRPr lang="en-U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ED9CE13-8EB2-1FC7-6C7B-97A76A04D652}"/>
              </a:ext>
            </a:extLst>
          </p:cNvPr>
          <p:cNvSpPr/>
          <p:nvPr/>
        </p:nvSpPr>
        <p:spPr>
          <a:xfrm>
            <a:off x="1932708" y="3886200"/>
            <a:ext cx="5424054" cy="78970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56175EC4-C012-E675-8E5B-2BCB9D5AE9FB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 flipV="1">
            <a:off x="7356762" y="2047010"/>
            <a:ext cx="727366" cy="223404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5ACB108F-865D-5B59-0B55-490FEB6CDDB8}"/>
              </a:ext>
            </a:extLst>
          </p:cNvPr>
          <p:cNvSpPr/>
          <p:nvPr/>
        </p:nvSpPr>
        <p:spPr>
          <a:xfrm>
            <a:off x="8084128" y="1298864"/>
            <a:ext cx="3610338" cy="1496291"/>
          </a:xfrm>
          <a:prstGeom prst="roundRect">
            <a:avLst/>
          </a:prstGeom>
          <a:solidFill>
            <a:srgbClr val="40C4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dirty="0"/>
              <a:t>Mejor ajuste </a:t>
            </a:r>
          </a:p>
          <a:p>
            <a:pPr algn="ctr"/>
            <a:r>
              <a:rPr lang="en-US" sz="2800" dirty="0"/>
              <a:t>(R² = 0.722)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F4C83AB-6E74-18CB-7CE6-7288233047A1}"/>
              </a:ext>
            </a:extLst>
          </p:cNvPr>
          <p:cNvSpPr txBox="1"/>
          <p:nvPr/>
        </p:nvSpPr>
        <p:spPr>
          <a:xfrm>
            <a:off x="7897091" y="3080725"/>
            <a:ext cx="41603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X1 = </a:t>
            </a:r>
            <a:r>
              <a:rPr lang="es-CO" dirty="0" err="1"/>
              <a:t>Isotermalidad</a:t>
            </a:r>
            <a:r>
              <a:rPr lang="es-CO" dirty="0"/>
              <a:t> (Bio3)</a:t>
            </a:r>
          </a:p>
          <a:p>
            <a:r>
              <a:rPr lang="es-CO" dirty="0"/>
              <a:t>X2 = Rango temperatura anual (Bio4)</a:t>
            </a:r>
          </a:p>
          <a:p>
            <a:r>
              <a:rPr lang="es-CO" dirty="0"/>
              <a:t>X3 = Intensidad de muestreo</a:t>
            </a:r>
          </a:p>
          <a:p>
            <a:r>
              <a:rPr lang="es-CO" dirty="0"/>
              <a:t>X4 = Elevación</a:t>
            </a:r>
            <a:endParaRPr lang="en-U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8C89836-670B-E7A3-C6CE-452911A7E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767" y="4446956"/>
            <a:ext cx="4558233" cy="104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742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0DC18-FB00-7FC1-3BB4-C571D43E2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2">
            <a:extLst>
              <a:ext uri="{FF2B5EF4-FFF2-40B4-BE49-F238E27FC236}">
                <a16:creationId xmlns:a16="http://schemas.microsoft.com/office/drawing/2014/main" id="{D1B04E79-1D69-7FC8-5F98-D8F3367E7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927" y="270550"/>
            <a:ext cx="12192000" cy="758503"/>
          </a:xfrm>
        </p:spPr>
        <p:txBody>
          <a:bodyPr anchor="ctr">
            <a:normAutofit/>
          </a:bodyPr>
          <a:lstStyle/>
          <a:p>
            <a:r>
              <a:rPr lang="es-CO" dirty="0"/>
              <a:t>3. Resultados – Modelo GWR</a:t>
            </a:r>
            <a:endParaRPr lang="en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03E52E7-9076-E442-C8D7-220676AB5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968" y="1275585"/>
            <a:ext cx="4905532" cy="5415268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2660FEF-0703-FB00-D76D-DD4D42C85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2981" y="1195083"/>
            <a:ext cx="3778960" cy="557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3722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57E37-835E-6884-31F5-06B2264A1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C43BFA9-EB23-2F51-1715-4B141B675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27" y="1704816"/>
            <a:ext cx="10498248" cy="4461756"/>
          </a:xfrm>
          <a:prstGeom prst="rect">
            <a:avLst/>
          </a:prstGeom>
          <a:noFill/>
        </p:spPr>
      </p:pic>
      <p:sp>
        <p:nvSpPr>
          <p:cNvPr id="12" name="Título 2">
            <a:extLst>
              <a:ext uri="{FF2B5EF4-FFF2-40B4-BE49-F238E27FC236}">
                <a16:creationId xmlns:a16="http://schemas.microsoft.com/office/drawing/2014/main" id="{A5306275-AF10-A107-169D-5B8BBBFC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927" y="270550"/>
            <a:ext cx="12192000" cy="758503"/>
          </a:xfrm>
        </p:spPr>
        <p:txBody>
          <a:bodyPr anchor="ctr">
            <a:normAutofit/>
          </a:bodyPr>
          <a:lstStyle/>
          <a:p>
            <a:r>
              <a:rPr lang="es-CO" dirty="0"/>
              <a:t>3. Resultados – Residuales GWR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840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6CF8B-463C-6226-1D44-4178A2FE9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2">
            <a:extLst>
              <a:ext uri="{FF2B5EF4-FFF2-40B4-BE49-F238E27FC236}">
                <a16:creationId xmlns:a16="http://schemas.microsoft.com/office/drawing/2014/main" id="{E474811B-F3B2-54B9-BB47-885E03255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927" y="270550"/>
            <a:ext cx="12192000" cy="758503"/>
          </a:xfrm>
        </p:spPr>
        <p:txBody>
          <a:bodyPr anchor="ctr">
            <a:normAutofit/>
          </a:bodyPr>
          <a:lstStyle/>
          <a:p>
            <a:r>
              <a:rPr lang="es-CO" dirty="0"/>
              <a:t>3. Resultados – Residuales GWR</a:t>
            </a:r>
            <a:endParaRPr lang="en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095406A-B307-008F-C391-B03A1CD67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896" y="1421268"/>
            <a:ext cx="5801675" cy="469423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19B02AD-E66E-8FA0-6503-88AAE8362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0927" y="1140542"/>
            <a:ext cx="3890981" cy="5609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465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8E2BAD62-1D1C-AEDF-2887-DD63EA4C4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691" y="2626087"/>
            <a:ext cx="9977283" cy="386320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dirty="0">
                <a:solidFill>
                  <a:srgbClr val="00B050"/>
                </a:solidFill>
              </a:rPr>
              <a:t>¿Por qué esto podría impulsar la especiación en </a:t>
            </a:r>
            <a:r>
              <a:rPr lang="es-MX" i="1" dirty="0" err="1">
                <a:solidFill>
                  <a:srgbClr val="00B050"/>
                </a:solidFill>
              </a:rPr>
              <a:t>Espeletia</a:t>
            </a:r>
            <a:r>
              <a:rPr lang="es-MX" dirty="0">
                <a:solidFill>
                  <a:srgbClr val="00B050"/>
                </a:solidFill>
              </a:rPr>
              <a:t>?</a:t>
            </a:r>
          </a:p>
          <a:p>
            <a:pPr marL="0" indent="0" algn="just">
              <a:buNone/>
            </a:pPr>
            <a:endParaRPr lang="es-MX" sz="1100" dirty="0"/>
          </a:p>
          <a:p>
            <a:pPr marL="0" indent="0" algn="just">
              <a:buNone/>
            </a:pPr>
            <a:r>
              <a:rPr lang="es-MX" sz="2400" b="1" dirty="0"/>
              <a:t>1. Presión de selección ambiental intensa</a:t>
            </a:r>
          </a:p>
          <a:p>
            <a:pPr marL="457200" lvl="1" indent="0" algn="just">
              <a:buNone/>
            </a:pPr>
            <a:r>
              <a:rPr lang="es-MX" sz="2000" dirty="0"/>
              <a:t>Ambientes con alta variación térmica exigen adaptaciones fisiológicas muy específicas. Las especies que sobreviven ahí tienden a estar altamente especializadas, lo que favorece la diferenciación genética.</a:t>
            </a:r>
          </a:p>
          <a:p>
            <a:pPr marL="0" indent="0" algn="just">
              <a:buNone/>
            </a:pPr>
            <a:r>
              <a:rPr lang="es-MX" sz="2400" b="1" dirty="0"/>
              <a:t>2. Diversificación adaptativa</a:t>
            </a:r>
          </a:p>
          <a:p>
            <a:pPr marL="457200" lvl="1" indent="0" algn="just">
              <a:buNone/>
            </a:pPr>
            <a:r>
              <a:rPr lang="es-MX" sz="2000" dirty="0"/>
              <a:t>En gradientes térmicos abruptos, las poblaciones pueden divergir rápidamente si se exponen a condiciones distintas incluso a pequeña escala espacial.</a:t>
            </a:r>
          </a:p>
          <a:p>
            <a:pPr marL="0" indent="0" algn="just">
              <a:buNone/>
            </a:pPr>
            <a:endParaRPr lang="es-MX" sz="2400" dirty="0"/>
          </a:p>
          <a:p>
            <a:pPr marL="0" indent="0" algn="just">
              <a:buNone/>
            </a:pPr>
            <a:endParaRPr lang="es-MX" sz="2400" dirty="0"/>
          </a:p>
          <a:p>
            <a:pPr marL="0" indent="0" algn="just">
              <a:buNone/>
            </a:pPr>
            <a:endParaRPr lang="en-US" sz="2400" dirty="0"/>
          </a:p>
        </p:txBody>
      </p:sp>
      <p:sp>
        <p:nvSpPr>
          <p:cNvPr id="4" name="Título 2">
            <a:extLst>
              <a:ext uri="{FF2B5EF4-FFF2-40B4-BE49-F238E27FC236}">
                <a16:creationId xmlns:a16="http://schemas.microsoft.com/office/drawing/2014/main" id="{FE64F71C-2550-05C0-AB46-E4F3E9FB4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927" y="270550"/>
            <a:ext cx="12192000" cy="758503"/>
          </a:xfrm>
        </p:spPr>
        <p:txBody>
          <a:bodyPr anchor="ctr">
            <a:normAutofit/>
          </a:bodyPr>
          <a:lstStyle/>
          <a:p>
            <a:r>
              <a:rPr lang="es-CO" dirty="0"/>
              <a:t>3. Discusión – Relevancia de Bio3 y Bio4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8310651-2BBE-245B-71AA-C788512D91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039" t="31063"/>
          <a:stretch>
            <a:fillRect/>
          </a:stretch>
        </p:blipFill>
        <p:spPr>
          <a:xfrm>
            <a:off x="926691" y="1500287"/>
            <a:ext cx="5784541" cy="847168"/>
          </a:xfrm>
          <a:prstGeom prst="rect">
            <a:avLst/>
          </a:prstGeo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408C4228-173D-C533-A789-DAB66C66F3F2}"/>
              </a:ext>
            </a:extLst>
          </p:cNvPr>
          <p:cNvSpPr/>
          <p:nvPr/>
        </p:nvSpPr>
        <p:spPr>
          <a:xfrm>
            <a:off x="7570842" y="1500287"/>
            <a:ext cx="3834581" cy="84716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000" dirty="0"/>
              <a:t>A menor </a:t>
            </a:r>
            <a:r>
              <a:rPr lang="es-CO" sz="2000" dirty="0" err="1"/>
              <a:t>isotermalidad</a:t>
            </a:r>
            <a:r>
              <a:rPr lang="es-CO" sz="2000" dirty="0"/>
              <a:t> (Bio3) mayor numero de especies</a:t>
            </a:r>
            <a:endParaRPr lang="en-US" sz="2000" dirty="0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C66887CF-B61A-94FE-A131-242EE78703FA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6711232" y="1923871"/>
            <a:ext cx="839942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19891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7A4F3335-8C08-7526-99AC-1F7F55002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9316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s-MX" sz="2400" dirty="0"/>
              <a:t>El patrón espacial de la diversidad de </a:t>
            </a:r>
            <a:r>
              <a:rPr lang="es-MX" sz="2400" i="1" dirty="0" err="1"/>
              <a:t>Espeletia</a:t>
            </a:r>
            <a:r>
              <a:rPr lang="es-MX" sz="2400" dirty="0"/>
              <a:t> en cuencas presenta autocorrelación y heterogeneidad espacial, y es importante usar modelos que consideren esa espacialidad.</a:t>
            </a:r>
            <a:endParaRPr lang="es-MX" sz="2400" i="1" dirty="0"/>
          </a:p>
          <a:p>
            <a:r>
              <a:rPr lang="es-MX" sz="2400" dirty="0"/>
              <a:t>Las variables </a:t>
            </a:r>
            <a:r>
              <a:rPr lang="es-MX" sz="2400" i="1" dirty="0"/>
              <a:t>bio3</a:t>
            </a:r>
            <a:r>
              <a:rPr lang="es-MX" sz="2400" dirty="0"/>
              <a:t> y </a:t>
            </a:r>
            <a:r>
              <a:rPr lang="es-MX" sz="2400" i="1" dirty="0"/>
              <a:t>bio4</a:t>
            </a:r>
            <a:r>
              <a:rPr lang="es-MX" sz="2400" dirty="0"/>
              <a:t> son las que más consistentemente explican la distribución de la diversidad de especies (asociadas a temperatura e </a:t>
            </a:r>
            <a:r>
              <a:rPr lang="es-MX" sz="2400" dirty="0" err="1"/>
              <a:t>isotermalidad</a:t>
            </a:r>
            <a:r>
              <a:rPr lang="es-MX" sz="2400" dirty="0"/>
              <a:t>).</a:t>
            </a:r>
          </a:p>
          <a:p>
            <a:r>
              <a:rPr lang="es-MX" sz="2400" dirty="0"/>
              <a:t>Los modelos de riqueza de especies que describieron mejor ajuste fueron el Poisson homogéneo y el GWR gaussiano. Al incluir la intensidad de muestreo como covariable el ajuste incremento hasta 10%</a:t>
            </a:r>
          </a:p>
          <a:p>
            <a:r>
              <a:rPr lang="es-MX" sz="2400" dirty="0"/>
              <a:t>Las cuencas de la </a:t>
            </a:r>
            <a:r>
              <a:rPr lang="es-MX" sz="2400" b="1" dirty="0"/>
              <a:t>cordillera oriental </a:t>
            </a:r>
            <a:r>
              <a:rPr lang="es-MX" sz="2400" dirty="0"/>
              <a:t>se destacan como los centros de mayor diversidad de especies, lo que les da un mayor valor como objetos de conservación de la biodiversidad de páramo. </a:t>
            </a:r>
            <a:endParaRPr lang="en-US" sz="240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483EA77D-6B93-12F9-F46B-2A3703405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Conclusiones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5292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4A6960B-289D-1B24-EC5D-6B4C1EC946F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3942" r="-1" b="5101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C6C1BFAE-801F-6A76-50C3-2FD3979A5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s-CO" sz="6600">
                <a:solidFill>
                  <a:schemeClr val="bg1"/>
                </a:solidFill>
              </a:rPr>
              <a:t>Gracias</a:t>
            </a:r>
            <a:endParaRPr lang="en-US" sz="6600">
              <a:solidFill>
                <a:schemeClr val="bg1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86B59DD-D639-E845-F69A-C46983A784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882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apel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2433</TotalTime>
  <Words>796</Words>
  <Application>Microsoft Office PowerPoint</Application>
  <PresentationFormat>Panorámica</PresentationFormat>
  <Paragraphs>107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Ancizar Sans</vt:lpstr>
      <vt:lpstr>Ancizar Serif</vt:lpstr>
      <vt:lpstr>Aptos</vt:lpstr>
      <vt:lpstr>Aptos Display</vt:lpstr>
      <vt:lpstr>Arial</vt:lpstr>
      <vt:lpstr>Tema de Office</vt:lpstr>
      <vt:lpstr>Presentación de PowerPoint</vt:lpstr>
      <vt:lpstr>1. Introducción - Antecedentes</vt:lpstr>
      <vt:lpstr>1. Introducción - Caso de studio</vt:lpstr>
      <vt:lpstr>2. Metodología – Base de datos</vt:lpstr>
      <vt:lpstr>2. Metodología – Variables Climáticas</vt:lpstr>
      <vt:lpstr>3. Resultados- Análisis de patrón de puntos</vt:lpstr>
      <vt:lpstr>3. Resultados- Análisis de patrón de puntos</vt:lpstr>
      <vt:lpstr>3. Resultados – Evaluación de variables independientes</vt:lpstr>
      <vt:lpstr>3. Resultados – Anterior entrega</vt:lpstr>
      <vt:lpstr>3. Resultados – Delimitación de cuencas</vt:lpstr>
      <vt:lpstr>3. Resultados – Dependencia espacial</vt:lpstr>
      <vt:lpstr>3. Resultados – Modelos entrega anterior</vt:lpstr>
      <vt:lpstr>3. Resultados – Modelo Poisson con offset</vt:lpstr>
      <vt:lpstr>3. Resultados – Modelo Poisson con offset</vt:lpstr>
      <vt:lpstr>3. Resultados – Modelo GWR</vt:lpstr>
      <vt:lpstr>3. Resultados – Modelo GWR</vt:lpstr>
      <vt:lpstr>3. Resultados – Modelo GWR</vt:lpstr>
      <vt:lpstr>3. Resultados – Residuales GWR</vt:lpstr>
      <vt:lpstr>3. Resultados – Residuales GWR</vt:lpstr>
      <vt:lpstr>3. Discusión – Relevancia de Bio3 y Bio4</vt:lpstr>
      <vt:lpstr>Conclusiones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 Rojas Hernández</dc:creator>
  <cp:lastModifiedBy>Daniel  Rojas Hernández</cp:lastModifiedBy>
  <cp:revision>149</cp:revision>
  <dcterms:created xsi:type="dcterms:W3CDTF">2025-06-25T03:29:26Z</dcterms:created>
  <dcterms:modified xsi:type="dcterms:W3CDTF">2025-07-25T23:58:38Z</dcterms:modified>
</cp:coreProperties>
</file>